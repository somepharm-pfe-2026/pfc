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685800" y="2011680"/>
            <a:ext cx="2743200" cy="7315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2286000"/>
            <a:ext cx="10789920" cy="1828800"/>
          </a:xfrm>
          <a:prstGeom prst="rect">
            <a:avLst/>
          </a:prstGeom>
          <a:noFill/>
        </p:spPr>
        <p:txBody>
          <a:bodyPr wrap="square">
            <a:spAutoFit/>
          </a:bodyPr>
          <a:lstStyle/>
          <a:p>
            <a:pPr>
              <a:defRPr sz="4800" b="1">
                <a:solidFill>
                  <a:srgbClr val="FFFFFF"/>
                </a:solidFill>
                <a:latin typeface="Arial"/>
              </a:defRPr>
            </a:pPr>
            <a:r>
              <a:t>Portail RH Somepharm</a:t>
            </a:r>
          </a:p>
          <a:p>
            <a:pPr>
              <a:spcBef>
                <a:spcPts val="1000"/>
              </a:spcBef>
              <a:defRPr sz="2000">
                <a:solidFill>
                  <a:srgbClr val="E2E8F0"/>
                </a:solidFill>
                <a:latin typeface="Arial"/>
              </a:defRPr>
            </a:pPr>
            <a:r>
              <a:t>Conception et Réalisation d'un Système de Gestion des Ressources Humaines</a:t>
            </a:r>
          </a:p>
        </p:txBody>
      </p:sp>
      <p:sp>
        <p:nvSpPr>
          <p:cNvPr id="4" name="TextBox 3"/>
          <p:cNvSpPr txBox="1"/>
          <p:nvPr/>
        </p:nvSpPr>
        <p:spPr>
          <a:xfrm>
            <a:off x="685800" y="4572000"/>
            <a:ext cx="10789920" cy="1828800"/>
          </a:xfrm>
          <a:prstGeom prst="rect">
            <a:avLst/>
          </a:prstGeom>
          <a:noFill/>
        </p:spPr>
        <p:txBody>
          <a:bodyPr wrap="none">
            <a:spAutoFit/>
          </a:bodyPr>
          <a:lstStyle/>
          <a:p>
            <a:pPr>
              <a:defRPr sz="1400" b="1">
                <a:solidFill>
                  <a:srgbClr val="FFFFFF"/>
                </a:solidFill>
                <a:latin typeface="Arial"/>
              </a:defRPr>
            </a:pPr>
            <a:r>
              <a:t>Réalisé par : Amalou Achraf  ·  Henni Rayane  ·  Dib Abderraouf Lokmane  ·  Rabhi Micipsa</a:t>
            </a:r>
          </a:p>
          <a:p>
            <a:pPr>
              <a:spcBef>
                <a:spcPts val="500"/>
              </a:spcBef>
              <a:defRPr sz="1400">
                <a:solidFill>
                  <a:srgbClr val="E2E8F0"/>
                </a:solidFill>
                <a:latin typeface="Arial"/>
              </a:defRPr>
            </a:pPr>
            <a:r>
              <a:t>Encadré par : Mr. Feredj Mohamed</a:t>
            </a:r>
          </a:p>
          <a:p>
            <a:pPr>
              <a:spcBef>
                <a:spcPts val="1500"/>
              </a:spcBef>
              <a:defRPr sz="1200" i="1">
                <a:solidFill>
                  <a:srgbClr val="0D9488"/>
                </a:solidFill>
                <a:latin typeface="Arial"/>
              </a:defRPr>
            </a:pPr>
            <a:r>
              <a:t>Projet de Fin d'Études (PFE) — Licence en Informatique — USTHB 2025–2026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685800" y="457200"/>
            <a:ext cx="10817352" cy="914400"/>
          </a:xfrm>
          <a:prstGeom prst="rect">
            <a:avLst/>
          </a:prstGeom>
          <a:noFill/>
        </p:spPr>
        <p:txBody>
          <a:bodyPr wrap="square" lIns="0" tIns="0" rIns="0" bIns="0">
            <a:spAutoFit/>
          </a:bodyPr>
          <a:lstStyle/>
          <a:p>
            <a:pPr>
              <a:defRPr sz="3600" b="1">
                <a:solidFill>
                  <a:srgbClr val="0F172A"/>
                </a:solidFill>
                <a:latin typeface="Arial"/>
              </a:defRPr>
            </a:pPr>
            <a:r>
              <a:t>Contexte du Projet</a:t>
            </a:r>
          </a:p>
        </p:txBody>
      </p:sp>
      <p:sp>
        <p:nvSpPr>
          <p:cNvPr id="3" name="TextBox 2"/>
          <p:cNvSpPr txBox="1"/>
          <p:nvPr/>
        </p:nvSpPr>
        <p:spPr>
          <a:xfrm>
            <a:off x="10515600" y="6217920"/>
            <a:ext cx="1371600" cy="457200"/>
          </a:xfrm>
          <a:prstGeom prst="rect">
            <a:avLst/>
          </a:prstGeom>
          <a:noFill/>
        </p:spPr>
        <p:txBody>
          <a:bodyPr wrap="none">
            <a:spAutoFit/>
          </a:bodyPr>
          <a:lstStyle/>
          <a:p>
            <a:pPr algn="r">
              <a:defRPr sz="1100">
                <a:solidFill>
                  <a:srgbClr val="334155"/>
                </a:solidFill>
                <a:latin typeface="Arial"/>
              </a:defRPr>
            </a:pPr>
            <a:r>
              <a:t>2 / 17</a:t>
            </a:r>
          </a:p>
        </p:txBody>
      </p:sp>
      <p:sp>
        <p:nvSpPr>
          <p:cNvPr id="4" name="TextBox 3"/>
          <p:cNvSpPr txBox="1"/>
          <p:nvPr/>
        </p:nvSpPr>
        <p:spPr>
          <a:xfrm>
            <a:off x="685800" y="1645920"/>
            <a:ext cx="5486400" cy="4114800"/>
          </a:xfrm>
          <a:prstGeom prst="rect">
            <a:avLst/>
          </a:prstGeom>
          <a:noFill/>
        </p:spPr>
        <p:txBody>
          <a:bodyPr wrap="square">
            <a:spAutoFit/>
          </a:bodyPr>
          <a:lstStyle/>
          <a:p>
            <a:pPr>
              <a:defRPr b="1" sz="1800">
                <a:solidFill>
                  <a:srgbClr val="0D9488"/>
                </a:solidFill>
              </a:defRPr>
            </a:pPr>
            <a:r>
              <a:t>L'Entreprise Somepharm</a:t>
            </a:r>
          </a:p>
          <a:p>
            <a:pPr>
              <a:spcBef>
                <a:spcPts val="1000"/>
              </a:spcBef>
              <a:defRPr sz="1400">
                <a:solidFill>
                  <a:srgbClr val="0F172A"/>
                </a:solidFill>
              </a:defRPr>
            </a:pPr>
            <a:r>
              <a:t>• Acteur majeur du secteur pharmaceutique et logistique algérien.</a:t>
            </a:r>
          </a:p>
          <a:p>
            <a:pPr>
              <a:spcBef>
                <a:spcPts val="1000"/>
              </a:spcBef>
              <a:defRPr sz="1400">
                <a:solidFill>
                  <a:srgbClr val="0F172A"/>
                </a:solidFill>
              </a:defRPr>
            </a:pPr>
            <a:r>
              <a:t>• Effectif mixte et géographiquement décentralisé : personnel administratif (bureaux) et personnel de terrain (magasiniers, chauffeurs, agents de production).</a:t>
            </a:r>
          </a:p>
          <a:p>
            <a:pPr>
              <a:spcBef>
                <a:spcPts val="1000"/>
              </a:spcBef>
              <a:defRPr sz="1400">
                <a:solidFill>
                  <a:srgbClr val="0F172A"/>
                </a:solidFill>
              </a:defRPr>
            </a:pPr>
            <a:r>
              <a:t>• Besoin fondamental de fluidité, de rapidité de décision et de traçabilité dans la gestion des flux RH quotidiens.</a:t>
            </a:r>
          </a:p>
          <a:p>
            <a:pPr>
              <a:spcBef>
                <a:spcPts val="1000"/>
              </a:spcBef>
              <a:defRPr sz="1400">
                <a:solidFill>
                  <a:srgbClr val="0F172A"/>
                </a:solidFill>
              </a:defRPr>
            </a:pPr>
            <a:r>
              <a:t>• Double Objectif opérationnel : Digitaliser l'administration centrale tout en restant accessible aux agents de terrain.</a:t>
            </a:r>
          </a:p>
        </p:txBody>
      </p:sp>
      <p:sp>
        <p:nvSpPr>
          <p:cNvPr id="5" name="Rounded Rectangle 4"/>
          <p:cNvSpPr/>
          <p:nvPr/>
        </p:nvSpPr>
        <p:spPr>
          <a:xfrm>
            <a:off x="6858000" y="1645920"/>
            <a:ext cx="4572000" cy="411480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365760" tIns="365760"/>
          <a:lstStyle/>
          <a:p>
            <a:pPr algn="ctr">
              <a:defRPr b="1" sz="1600">
                <a:solidFill>
                  <a:srgbClr val="0F172A"/>
                </a:solidFill>
              </a:defRPr>
            </a:pPr>
            <a:r>
              <a:t>Deux Piliers de Mobilité &amp; Sécurité :</a:t>
            </a:r>
          </a:p>
          <a:p>
            <a:pPr>
              <a:spcBef>
                <a:spcPts val="1500"/>
              </a:spcBef>
              <a:defRPr b="1" sz="1400">
                <a:solidFill>
                  <a:srgbClr val="0D9488"/>
                </a:solidFill>
              </a:defRPr>
            </a:pPr>
            <a:r>
              <a:t>💡 Pilier 1 : Gestion des Congés &amp; Requêtes</a:t>
            </a:r>
          </a:p>
          <a:p>
            <a:pPr>
              <a:spcBef>
                <a:spcPts val="500"/>
              </a:spcBef>
              <a:defRPr sz="1200">
                <a:solidFill>
                  <a:srgbClr val="334155"/>
                </a:solidFill>
              </a:defRPr>
            </a:pPr>
            <a:r>
              <a:t>Automatisation totale du cycle de vie des demandes, de la soumission mobile à la validation hiérarchique avec calcul de solde en temps réel.</a:t>
            </a:r>
          </a:p>
          <a:p>
            <a:pPr>
              <a:spcBef>
                <a:spcPts val="2000"/>
              </a:spcBef>
              <a:defRPr b="1" sz="1400">
                <a:solidFill>
                  <a:srgbClr val="0D9488"/>
                </a:solidFill>
              </a:defRPr>
            </a:pPr>
            <a:r>
              <a:t>🔒 Pilier 2 : Gestion des Bons de Sortie</a:t>
            </a:r>
          </a:p>
          <a:p>
            <a:pPr>
              <a:spcBef>
                <a:spcPts val="500"/>
              </a:spcBef>
              <a:defRPr sz="1200">
                <a:solidFill>
                  <a:srgbClr val="334155"/>
                </a:solidFill>
              </a:defRPr>
            </a:pPr>
            <a:r>
              <a:t>Génération de coupons de sortie officiels intégrant des QR Codes sécurisés par signature cryptographique HMAC (scannables par les agents de sécurité).</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685800" y="457200"/>
            <a:ext cx="10817352" cy="914400"/>
          </a:xfrm>
          <a:prstGeom prst="rect">
            <a:avLst/>
          </a:prstGeom>
          <a:noFill/>
        </p:spPr>
        <p:txBody>
          <a:bodyPr wrap="square" lIns="0" tIns="0" rIns="0" bIns="0">
            <a:spAutoFit/>
          </a:bodyPr>
          <a:lstStyle/>
          <a:p>
            <a:pPr>
              <a:defRPr sz="3600" b="1">
                <a:solidFill>
                  <a:srgbClr val="0F172A"/>
                </a:solidFill>
                <a:latin typeface="Arial"/>
              </a:defRPr>
            </a:pPr>
            <a:r>
              <a:t>Problème 1 : Gestion des Congés &amp; Requêtes</a:t>
            </a:r>
          </a:p>
        </p:txBody>
      </p:sp>
      <p:sp>
        <p:nvSpPr>
          <p:cNvPr id="3" name="TextBox 2"/>
          <p:cNvSpPr txBox="1"/>
          <p:nvPr/>
        </p:nvSpPr>
        <p:spPr>
          <a:xfrm>
            <a:off x="10515600" y="6217920"/>
            <a:ext cx="1371600" cy="457200"/>
          </a:xfrm>
          <a:prstGeom prst="rect">
            <a:avLst/>
          </a:prstGeom>
          <a:noFill/>
        </p:spPr>
        <p:txBody>
          <a:bodyPr wrap="none">
            <a:spAutoFit/>
          </a:bodyPr>
          <a:lstStyle/>
          <a:p>
            <a:pPr algn="r">
              <a:defRPr sz="1100">
                <a:solidFill>
                  <a:srgbClr val="334155"/>
                </a:solidFill>
                <a:latin typeface="Arial"/>
              </a:defRPr>
            </a:pPr>
            <a:r>
              <a:t>3 / 17</a:t>
            </a:r>
          </a:p>
        </p:txBody>
      </p:sp>
      <p:sp>
        <p:nvSpPr>
          <p:cNvPr id="4" name="TextBox 3"/>
          <p:cNvSpPr txBox="1"/>
          <p:nvPr/>
        </p:nvSpPr>
        <p:spPr>
          <a:xfrm>
            <a:off x="685800" y="1645920"/>
            <a:ext cx="5303520" cy="4114800"/>
          </a:xfrm>
          <a:prstGeom prst="rect">
            <a:avLst/>
          </a:prstGeom>
          <a:noFill/>
        </p:spPr>
        <p:txBody>
          <a:bodyPr wrap="square">
            <a:spAutoFit/>
          </a:bodyPr>
          <a:lstStyle/>
          <a:p>
            <a:pPr>
              <a:defRPr b="1" sz="1800">
                <a:solidFill>
                  <a:srgbClr val="F43F5E"/>
                </a:solidFill>
              </a:defRPr>
            </a:pPr>
            <a:r>
              <a:t>Flux Existant : Entièrement Papier et Manuel</a:t>
            </a:r>
          </a:p>
          <a:p>
            <a:pPr>
              <a:spcBef>
                <a:spcPts val="800"/>
              </a:spcBef>
              <a:defRPr sz="1300">
                <a:solidFill>
                  <a:srgbClr val="0F172A"/>
                </a:solidFill>
              </a:defRPr>
            </a:pPr>
            <a:r>
              <a:t>1. Employé remplit un formulaire de demande papier.</a:t>
            </a:r>
          </a:p>
          <a:p>
            <a:pPr>
              <a:spcBef>
                <a:spcPts val="800"/>
              </a:spcBef>
              <a:defRPr sz="1300">
                <a:solidFill>
                  <a:srgbClr val="0F172A"/>
                </a:solidFill>
              </a:defRPr>
            </a:pPr>
            <a:r>
              <a:t>2. Transmission physique au manager direct pour approbation.</a:t>
            </a:r>
          </a:p>
          <a:p>
            <a:pPr>
              <a:spcBef>
                <a:spcPts val="800"/>
              </a:spcBef>
              <a:defRPr sz="1300">
                <a:solidFill>
                  <a:srgbClr val="0F172A"/>
                </a:solidFill>
              </a:defRPr>
            </a:pPr>
            <a:r>
              <a:t>3. Transmission physique au secrétariat RH pour validation finale.</a:t>
            </a:r>
          </a:p>
          <a:p>
            <a:pPr>
              <a:spcBef>
                <a:spcPts val="800"/>
              </a:spcBef>
              <a:defRPr sz="1300">
                <a:solidFill>
                  <a:srgbClr val="0F172A"/>
                </a:solidFill>
              </a:defRPr>
            </a:pPr>
            <a:r>
              <a:t>4. Enregistrement manuel des soldes sur tableur Excel.</a:t>
            </a:r>
          </a:p>
          <a:p>
            <a:pPr>
              <a:spcBef>
                <a:spcPts val="800"/>
              </a:spcBef>
              <a:defRPr sz="1300">
                <a:solidFill>
                  <a:srgbClr val="0F172A"/>
                </a:solidFill>
              </a:defRPr>
            </a:pPr>
            <a:r>
              <a:t>5. Archivage physique des justificatifs papier.</a:t>
            </a:r>
          </a:p>
        </p:txBody>
      </p:sp>
      <p:sp>
        <p:nvSpPr>
          <p:cNvPr id="5" name="Rounded Rectangle 4"/>
          <p:cNvSpPr/>
          <p:nvPr/>
        </p:nvSpPr>
        <p:spPr>
          <a:xfrm>
            <a:off x="6400800" y="1645920"/>
            <a:ext cx="5029200" cy="4114800"/>
          </a:xfrm>
          <a:prstGeom prst="roundRect">
            <a:avLst/>
          </a:prstGeom>
          <a:solidFill>
            <a:srgbClr val="FFFFFF"/>
          </a:solidFill>
          <a:ln>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wrap="square" lIns="274320" tIns="274320"/>
          <a:lstStyle/>
          <a:p>
            <a:pPr algn="ctr">
              <a:defRPr b="1" sz="1600">
                <a:solidFill>
                  <a:srgbClr val="0F172A"/>
                </a:solidFill>
              </a:defRPr>
            </a:pPr>
            <a:r>
              <a:t>Conséquences Opérationnelles :</a:t>
            </a:r>
          </a:p>
          <a:p>
            <a:pPr>
              <a:spcBef>
                <a:spcPts val="1200"/>
              </a:spcBef>
              <a:defRPr sz="1200">
                <a:solidFill>
                  <a:srgbClr val="334155"/>
                </a:solidFill>
              </a:defRPr>
            </a:pPr>
            <a:r>
              <a:t>❌ Risques élevés de perte de documents physiques.</a:t>
            </a:r>
          </a:p>
          <a:p>
            <a:pPr>
              <a:spcBef>
                <a:spcPts val="1200"/>
              </a:spcBef>
              <a:defRPr sz="1200">
                <a:solidFill>
                  <a:srgbClr val="334155"/>
                </a:solidFill>
              </a:defRPr>
            </a:pPr>
            <a:r>
              <a:t>❌ Lenteur de traitement et absence totale de notifications.</a:t>
            </a:r>
          </a:p>
          <a:p>
            <a:pPr>
              <a:spcBef>
                <a:spcPts val="1200"/>
              </a:spcBef>
              <a:defRPr sz="1200">
                <a:solidFill>
                  <a:srgbClr val="334155"/>
                </a:solidFill>
              </a:defRPr>
            </a:pPr>
            <a:r>
              <a:t>❌ Aucune vérification automatique du solde disponible avant soumission.</a:t>
            </a:r>
          </a:p>
          <a:p>
            <a:pPr>
              <a:spcBef>
                <a:spcPts val="1200"/>
              </a:spcBef>
              <a:defRPr sz="1200">
                <a:solidFill>
                  <a:srgbClr val="334155"/>
                </a:solidFill>
              </a:defRPr>
            </a:pPr>
            <a:r>
              <a:t>❌ Absence de contrôle sur les quotas et effectifs minimaux par service.</a:t>
            </a:r>
          </a:p>
          <a:p>
            <a:pPr>
              <a:spcBef>
                <a:spcPts val="1200"/>
              </a:spcBef>
              <a:defRPr sz="1200">
                <a:solidFill>
                  <a:srgbClr val="334155"/>
                </a:solidFill>
              </a:defRPr>
            </a:pPr>
            <a:r>
              <a:t>❌ Manque absolu de traçabilité et d'historique consolidé par employé.</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685800" y="457200"/>
            <a:ext cx="10817352" cy="914400"/>
          </a:xfrm>
          <a:prstGeom prst="rect">
            <a:avLst/>
          </a:prstGeom>
          <a:noFill/>
        </p:spPr>
        <p:txBody>
          <a:bodyPr wrap="square" lIns="0" tIns="0" rIns="0" bIns="0">
            <a:spAutoFit/>
          </a:bodyPr>
          <a:lstStyle/>
          <a:p>
            <a:pPr>
              <a:defRPr sz="3600" b="1">
                <a:solidFill>
                  <a:srgbClr val="0F172A"/>
                </a:solidFill>
                <a:latin typeface="Arial"/>
              </a:defRPr>
            </a:pPr>
            <a:r>
              <a:t>Problème 2 : Mobilité &amp; Vulnérabilité des Bons de Sortie</a:t>
            </a:r>
          </a:p>
        </p:txBody>
      </p:sp>
      <p:sp>
        <p:nvSpPr>
          <p:cNvPr id="3" name="TextBox 2"/>
          <p:cNvSpPr txBox="1"/>
          <p:nvPr/>
        </p:nvSpPr>
        <p:spPr>
          <a:xfrm>
            <a:off x="10515600" y="6217920"/>
            <a:ext cx="1371600" cy="457200"/>
          </a:xfrm>
          <a:prstGeom prst="rect">
            <a:avLst/>
          </a:prstGeom>
          <a:noFill/>
        </p:spPr>
        <p:txBody>
          <a:bodyPr wrap="none">
            <a:spAutoFit/>
          </a:bodyPr>
          <a:lstStyle/>
          <a:p>
            <a:pPr algn="r">
              <a:defRPr sz="1100">
                <a:solidFill>
                  <a:srgbClr val="334155"/>
                </a:solidFill>
                <a:latin typeface="Arial"/>
              </a:defRPr>
            </a:pPr>
            <a:r>
              <a:t>4 / 17</a:t>
            </a:r>
          </a:p>
        </p:txBody>
      </p:sp>
      <p:sp>
        <p:nvSpPr>
          <p:cNvPr id="4" name="TextBox 3"/>
          <p:cNvSpPr txBox="1"/>
          <p:nvPr/>
        </p:nvSpPr>
        <p:spPr>
          <a:xfrm>
            <a:off x="685800" y="1645920"/>
            <a:ext cx="5486400" cy="4114800"/>
          </a:xfrm>
          <a:prstGeom prst="rect">
            <a:avLst/>
          </a:prstGeom>
          <a:noFill/>
        </p:spPr>
        <p:txBody>
          <a:bodyPr wrap="square">
            <a:spAutoFit/>
          </a:bodyPr>
          <a:lstStyle/>
          <a:p>
            <a:pPr>
              <a:defRPr b="1" sz="1800">
                <a:solidFill>
                  <a:srgbClr val="F43F5E"/>
                </a:solidFill>
              </a:defRPr>
            </a:pPr>
            <a:r>
              <a:t>Limites des Flux Physiques existants</a:t>
            </a:r>
          </a:p>
          <a:p>
            <a:pPr>
              <a:spcBef>
                <a:spcPts val="1200"/>
              </a:spcBef>
              <a:defRPr sz="1300">
                <a:solidFill>
                  <a:srgbClr val="0F172A"/>
                </a:solidFill>
              </a:defRPr>
            </a:pPr>
            <a:r>
              <a:t>• Le Bon de Sortie papier est signé de façon manuscrite, ouvrant la voie à des falsifications simples et indétectables.</a:t>
            </a:r>
          </a:p>
          <a:p>
            <a:pPr>
              <a:spcBef>
                <a:spcPts val="1200"/>
              </a:spcBef>
              <a:defRPr sz="1300">
                <a:solidFill>
                  <a:srgbClr val="0F172A"/>
                </a:solidFill>
              </a:defRPr>
            </a:pPr>
            <a:r>
              <a:t>• Les agents de sécurité postés aux barrières n'ont aucun moyen de vérifier l'authenticité de la signature en temps réel.</a:t>
            </a:r>
          </a:p>
          <a:p>
            <a:pPr>
              <a:spcBef>
                <a:spcPts val="1200"/>
              </a:spcBef>
              <a:defRPr sz="1300">
                <a:solidFill>
                  <a:srgbClr val="0F172A"/>
                </a:solidFill>
              </a:defRPr>
            </a:pPr>
            <a:r>
              <a:t>• Aucune restriction sur l'utilisation du bon après expiration (heures dépassées ou dates obsolètes).</a:t>
            </a:r>
          </a:p>
          <a:p>
            <a:pPr>
              <a:spcBef>
                <a:spcPts val="1200"/>
              </a:spcBef>
              <a:defRPr sz="1300">
                <a:solidFill>
                  <a:srgbClr val="0F172A"/>
                </a:solidFill>
              </a:defRPr>
            </a:pPr>
            <a:r>
              <a:t>• Aucun historique centralisé des mouvements d'entrée/sortie du personnel pour les audits de présence.</a:t>
            </a:r>
          </a:p>
        </p:txBody>
      </p:sp>
      <p:sp>
        <p:nvSpPr>
          <p:cNvPr id="5" name="Rounded Rectangle 4"/>
          <p:cNvSpPr/>
          <p:nvPr/>
        </p:nvSpPr>
        <p:spPr>
          <a:xfrm>
            <a:off x="6583680" y="1645920"/>
            <a:ext cx="4846320" cy="411480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tIns="365760"/>
          <a:lstStyle/>
          <a:p>
            <a:pPr algn="ctr">
              <a:defRPr b="1" sz="1800">
                <a:solidFill>
                  <a:srgbClr val="F43F5E"/>
                </a:solidFill>
              </a:defRPr>
            </a:pPr>
            <a:r>
              <a:t>🚨 Risque Critique d'Entreprise</a:t>
            </a:r>
          </a:p>
          <a:p>
            <a:pPr>
              <a:spcBef>
                <a:spcPts val="1500"/>
              </a:spcBef>
              <a:defRPr sz="1300">
                <a:solidFill>
                  <a:srgbClr val="FFFFFF"/>
                </a:solidFill>
              </a:defRPr>
            </a:pPr>
            <a:r>
              <a:t>La faiblesse du contrôle aux barrières physiques expose Somepharm à des sorties d'agents non autorisées en cours de service, posant des risques majeurs de sécurité, de responsabilité civile, et d'arrêt de ligne de production en cas d'absence critique d'opérateurs en entrepôt.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685800" y="457200"/>
            <a:ext cx="10817352" cy="914400"/>
          </a:xfrm>
          <a:prstGeom prst="rect">
            <a:avLst/>
          </a:prstGeom>
          <a:noFill/>
        </p:spPr>
        <p:txBody>
          <a:bodyPr wrap="square" lIns="0" tIns="0" rIns="0" bIns="0">
            <a:spAutoFit/>
          </a:bodyPr>
          <a:lstStyle/>
          <a:p>
            <a:pPr>
              <a:defRPr sz="3600" b="1">
                <a:solidFill>
                  <a:srgbClr val="0F172A"/>
                </a:solidFill>
                <a:latin typeface="Arial"/>
              </a:defRPr>
            </a:pPr>
            <a:r>
              <a:t>Solution Proposée : Le Portail RH Somepharm</a:t>
            </a:r>
          </a:p>
        </p:txBody>
      </p:sp>
      <p:sp>
        <p:nvSpPr>
          <p:cNvPr id="3" name="TextBox 2"/>
          <p:cNvSpPr txBox="1"/>
          <p:nvPr/>
        </p:nvSpPr>
        <p:spPr>
          <a:xfrm>
            <a:off x="10515600" y="6217920"/>
            <a:ext cx="1371600" cy="457200"/>
          </a:xfrm>
          <a:prstGeom prst="rect">
            <a:avLst/>
          </a:prstGeom>
          <a:noFill/>
        </p:spPr>
        <p:txBody>
          <a:bodyPr wrap="none">
            <a:spAutoFit/>
          </a:bodyPr>
          <a:lstStyle/>
          <a:p>
            <a:pPr algn="r">
              <a:defRPr sz="1100">
                <a:solidFill>
                  <a:srgbClr val="334155"/>
                </a:solidFill>
                <a:latin typeface="Arial"/>
              </a:defRPr>
            </a:pPr>
            <a:r>
              <a:t>5 / 17</a:t>
            </a:r>
          </a:p>
        </p:txBody>
      </p:sp>
      <p:sp>
        <p:nvSpPr>
          <p:cNvPr id="4" name="Rounded Rectangle 3"/>
          <p:cNvSpPr/>
          <p:nvPr/>
        </p:nvSpPr>
        <p:spPr>
          <a:xfrm>
            <a:off x="685800" y="1645920"/>
            <a:ext cx="3291840" cy="411480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tIns="274320"/>
          <a:lstStyle/>
          <a:p>
            <a:pPr algn="ctr">
              <a:defRPr b="1" sz="1600">
                <a:solidFill>
                  <a:srgbClr val="0D9488"/>
                </a:solidFill>
              </a:defRPr>
            </a:pPr>
            <a:r>
              <a:t> Espace Unique &amp; RBAC</a:t>
            </a:r>
          </a:p>
          <a:p>
            <a:pPr>
              <a:spcBef>
                <a:spcPts val="1000"/>
              </a:spcBef>
              <a:defRPr sz="1200">
                <a:solidFill>
                  <a:srgbClr val="0F172A"/>
                </a:solidFill>
              </a:defRPr>
            </a:pPr>
            <a:r>
              <a:t>• Référentiel unique pour tous les acteurs.</a:t>
            </a:r>
          </a:p>
          <a:p>
            <a:pPr>
              <a:spcBef>
                <a:spcPts val="1000"/>
              </a:spcBef>
              <a:defRPr sz="1200">
                <a:solidFill>
                  <a:srgbClr val="0F172A"/>
                </a:solidFill>
              </a:defRPr>
            </a:pPr>
            <a:r>
              <a:t>• Gestion stricte des rôles : Employé, Manager, Chef Dept, RH Admin, Super Admin, Security Agent.</a:t>
            </a:r>
          </a:p>
          <a:p>
            <a:pPr>
              <a:spcBef>
                <a:spcPts val="1000"/>
              </a:spcBef>
              <a:defRPr sz="1200">
                <a:solidFill>
                  <a:srgbClr val="0F172A"/>
                </a:solidFill>
              </a:defRPr>
            </a:pPr>
            <a:r>
              <a:t>• Tableau de bord personnalisé avec solde de congés en temps réel et fiches de paie.</a:t>
            </a:r>
          </a:p>
        </p:txBody>
      </p:sp>
      <p:sp>
        <p:nvSpPr>
          <p:cNvPr id="5" name="Rounded Rectangle 4"/>
          <p:cNvSpPr/>
          <p:nvPr/>
        </p:nvSpPr>
        <p:spPr>
          <a:xfrm>
            <a:off x="4434840" y="1645920"/>
            <a:ext cx="3291840" cy="411480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tIns="274320"/>
          <a:lstStyle/>
          <a:p>
            <a:pPr algn="ctr">
              <a:defRPr b="1" sz="1600">
                <a:solidFill>
                  <a:srgbClr val="0D9488"/>
                </a:solidFill>
              </a:defRPr>
            </a:pPr>
            <a:r>
              <a:t>⚙️ Workflows &amp; Validation</a:t>
            </a:r>
          </a:p>
          <a:p>
            <a:pPr>
              <a:spcBef>
                <a:spcPts val="1000"/>
              </a:spcBef>
              <a:defRPr sz="1200">
                <a:solidFill>
                  <a:srgbClr val="0F172A"/>
                </a:solidFill>
              </a:defRPr>
            </a:pPr>
            <a:r>
              <a:t>• Moteur de circuits de validation dynamique configurable sans retouche de code.</a:t>
            </a:r>
          </a:p>
          <a:p>
            <a:pPr>
              <a:spcBef>
                <a:spcPts val="1000"/>
              </a:spcBef>
              <a:defRPr sz="1200">
                <a:solidFill>
                  <a:srgbClr val="0F172A"/>
                </a:solidFill>
              </a:defRPr>
            </a:pPr>
            <a:r>
              <a:t>• Double approbation hiérarchique systématique et transparente.</a:t>
            </a:r>
          </a:p>
          <a:p>
            <a:pPr>
              <a:spcBef>
                <a:spcPts val="1000"/>
              </a:spcBef>
              <a:defRPr sz="1200">
                <a:solidFill>
                  <a:srgbClr val="0F172A"/>
                </a:solidFill>
              </a:defRPr>
            </a:pPr>
            <a:r>
              <a:t>• Dépôt asynchrone des titres de congés en PDF scellés avec envoi d'emails automatiques.</a:t>
            </a:r>
          </a:p>
        </p:txBody>
      </p:sp>
      <p:sp>
        <p:nvSpPr>
          <p:cNvPr id="6" name="Rounded Rectangle 5"/>
          <p:cNvSpPr/>
          <p:nvPr/>
        </p:nvSpPr>
        <p:spPr>
          <a:xfrm>
            <a:off x="8183880" y="1645920"/>
            <a:ext cx="3291840" cy="411480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tIns="274320"/>
          <a:lstStyle/>
          <a:p>
            <a:pPr algn="ctr">
              <a:defRPr b="1" sz="1600">
                <a:solidFill>
                  <a:srgbClr val="10B981"/>
                </a:solidFill>
              </a:defRPr>
            </a:pPr>
            <a:r>
              <a:t>🔒 QR Codes &amp; PWA</a:t>
            </a:r>
          </a:p>
          <a:p>
            <a:pPr>
              <a:spcBef>
                <a:spcPts val="1000"/>
              </a:spcBef>
              <a:defRPr sz="1200">
                <a:solidFill>
                  <a:srgbClr val="FFFFFF"/>
                </a:solidFill>
              </a:defRPr>
            </a:pPr>
            <a:r>
              <a:t>• Bons de sortie scellés par signature cryptographique HMAC indéchiffrable.</a:t>
            </a:r>
          </a:p>
          <a:p>
            <a:pPr>
              <a:spcBef>
                <a:spcPts val="1000"/>
              </a:spcBef>
              <a:defRPr sz="1200">
                <a:solidFill>
                  <a:srgbClr val="FFFFFF"/>
                </a:solidFill>
              </a:defRPr>
            </a:pPr>
            <a:r>
              <a:t>• Application mobile PWA résiliente, conçue pour un fonctionnement Offline-First.</a:t>
            </a:r>
          </a:p>
          <a:p>
            <a:pPr>
              <a:spcBef>
                <a:spcPts val="1000"/>
              </a:spcBef>
              <a:defRPr sz="1200">
                <a:solidFill>
                  <a:srgbClr val="FFFFFF"/>
                </a:solidFill>
              </a:defRPr>
            </a:pPr>
            <a:r>
              <a:t>• Validation instantanée par scan caméra caméra pour les agents de sécurité.</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685800" y="457200"/>
            <a:ext cx="10817352" cy="914400"/>
          </a:xfrm>
          <a:prstGeom prst="rect">
            <a:avLst/>
          </a:prstGeom>
          <a:noFill/>
        </p:spPr>
        <p:txBody>
          <a:bodyPr wrap="square" lIns="0" tIns="0" rIns="0" bIns="0">
            <a:spAutoFit/>
          </a:bodyPr>
          <a:lstStyle/>
          <a:p>
            <a:pPr>
              <a:defRPr sz="3600" b="1">
                <a:solidFill>
                  <a:srgbClr val="0F172A"/>
                </a:solidFill>
                <a:latin typeface="Arial"/>
              </a:defRPr>
            </a:pPr>
            <a:r>
              <a:t>Architecture du Système : 3-Tier</a:t>
            </a:r>
          </a:p>
        </p:txBody>
      </p:sp>
      <p:sp>
        <p:nvSpPr>
          <p:cNvPr id="3" name="TextBox 2"/>
          <p:cNvSpPr txBox="1"/>
          <p:nvPr/>
        </p:nvSpPr>
        <p:spPr>
          <a:xfrm>
            <a:off x="10515600" y="6217920"/>
            <a:ext cx="1371600" cy="457200"/>
          </a:xfrm>
          <a:prstGeom prst="rect">
            <a:avLst/>
          </a:prstGeom>
          <a:noFill/>
        </p:spPr>
        <p:txBody>
          <a:bodyPr wrap="none">
            <a:spAutoFit/>
          </a:bodyPr>
          <a:lstStyle/>
          <a:p>
            <a:pPr algn="r">
              <a:defRPr sz="1100">
                <a:solidFill>
                  <a:srgbClr val="334155"/>
                </a:solidFill>
                <a:latin typeface="Arial"/>
              </a:defRPr>
            </a:pPr>
            <a:r>
              <a:t>6 / 17</a:t>
            </a:r>
          </a:p>
        </p:txBody>
      </p:sp>
      <p:sp>
        <p:nvSpPr>
          <p:cNvPr id="4" name="Rounded Rectangle 3"/>
          <p:cNvSpPr/>
          <p:nvPr/>
        </p:nvSpPr>
        <p:spPr>
          <a:xfrm>
            <a:off x="685800" y="1645920"/>
            <a:ext cx="3291840" cy="4114800"/>
          </a:xfrm>
          <a:prstGeom prst="roundRect">
            <a:avLst/>
          </a:prstGeom>
          <a:solidFill>
            <a:srgbClr val="FFFFFF"/>
          </a:solidFill>
          <a:ln>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lIns="274320" tIns="274320"/>
          <a:lstStyle/>
          <a:p>
            <a:pPr algn="ctr">
              <a:defRPr b="1" sz="1400">
                <a:solidFill>
                  <a:srgbClr val="0D9488"/>
                </a:solidFill>
              </a:defRPr>
            </a:pPr>
            <a:r>
              <a:t>1. COUCHE PRÉSENTATION</a:t>
            </a:r>
          </a:p>
          <a:p>
            <a:pPr>
              <a:spcBef>
                <a:spcPts val="1500"/>
              </a:spcBef>
              <a:defRPr sz="1200">
                <a:solidFill>
                  <a:srgbClr val="0F172A"/>
                </a:solidFill>
              </a:defRPr>
            </a:pPr>
            <a:r>
              <a:t>Frontend Mobile-First (PWA)</a:t>
            </a:r>
            <a:br/>
            <a:r>
              <a:t>• Framework : Next.js (React / TS)</a:t>
            </a:r>
            <a:br/>
            <a:r>
              <a:t>• Stylisation : Tailwind CSS</a:t>
            </a:r>
            <a:br/>
            <a:r>
              <a:t>• Gestion locale : Service Workers</a:t>
            </a:r>
            <a:br/>
            <a:r>
              <a:t>• Cache de données : IndexedDB pour la résilience réseau (Offline-First)</a:t>
            </a:r>
            <a:br/>
            <a:r>
              <a:t>• Communication : JSON / HTTPS API</a:t>
            </a:r>
          </a:p>
        </p:txBody>
      </p:sp>
      <p:sp>
        <p:nvSpPr>
          <p:cNvPr id="5" name="Rounded Rectangle 4"/>
          <p:cNvSpPr/>
          <p:nvPr/>
        </p:nvSpPr>
        <p:spPr>
          <a:xfrm>
            <a:off x="4434840" y="1645920"/>
            <a:ext cx="3291840" cy="4114800"/>
          </a:xfrm>
          <a:prstGeom prst="roundRect">
            <a:avLst/>
          </a:prstGeom>
          <a:solidFill>
            <a:srgbClr val="FFFFFF"/>
          </a:solidFill>
          <a:ln>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lIns="274320" tIns="274320"/>
          <a:lstStyle/>
          <a:p>
            <a:pPr algn="ctr">
              <a:defRPr b="1" sz="1400">
                <a:solidFill>
                  <a:srgbClr val="0D9488"/>
                </a:solidFill>
              </a:defRPr>
            </a:pPr>
            <a:r>
              <a:t>2. COUCHE MÉTIER</a:t>
            </a:r>
          </a:p>
          <a:p>
            <a:pPr>
              <a:spcBef>
                <a:spcPts val="1500"/>
              </a:spcBef>
              <a:defRPr sz="1200">
                <a:solidFill>
                  <a:srgbClr val="0F172A"/>
                </a:solidFill>
              </a:defRPr>
            </a:pPr>
            <a:r>
              <a:t>Backend REST API Sécurisée</a:t>
            </a:r>
            <a:br/>
            <a:r>
              <a:t>• Framework : Spring Boot 3</a:t>
            </a:r>
            <a:br/>
            <a:r>
              <a:t>• Sécurité : Spring Security + JWT</a:t>
            </a:r>
            <a:br/>
            <a:r>
              <a:t>• Moteur de Workflow Dynamique</a:t>
            </a:r>
            <a:br/>
            <a:r>
              <a:t>• Signature numérique : HMAC (256/512)</a:t>
            </a:r>
            <a:br/>
            <a:r>
              <a:t>• Générateur PDF : iTextPDF</a:t>
            </a:r>
            <a:br/>
            <a:r>
              <a:t>• Export Tableurs : Apache POI</a:t>
            </a:r>
          </a:p>
        </p:txBody>
      </p:sp>
      <p:sp>
        <p:nvSpPr>
          <p:cNvPr id="6" name="Rounded Rectangle 5"/>
          <p:cNvSpPr/>
          <p:nvPr/>
        </p:nvSpPr>
        <p:spPr>
          <a:xfrm>
            <a:off x="8183879" y="1645920"/>
            <a:ext cx="3291840" cy="411480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tIns="274320"/>
          <a:lstStyle/>
          <a:p>
            <a:pPr algn="ctr">
              <a:defRPr b="1" sz="1400">
                <a:solidFill>
                  <a:srgbClr val="10B981"/>
                </a:solidFill>
              </a:defRPr>
            </a:pPr>
            <a:r>
              <a:t>3. COUCHE DONNÉES</a:t>
            </a:r>
          </a:p>
          <a:p>
            <a:pPr>
              <a:spcBef>
                <a:spcPts val="1500"/>
              </a:spcBef>
              <a:defRPr sz="1200">
                <a:solidFill>
                  <a:srgbClr val="FFFFFF"/>
                </a:solidFill>
              </a:defRPr>
            </a:pPr>
            <a:r>
              <a:t>Base de Données Relationnelle</a:t>
            </a:r>
            <a:br/>
            <a:r>
              <a:t>• SGBD : PostgreSQL 16</a:t>
            </a:r>
            <a:br/>
            <a:r>
              <a:t>• Normalisation : 3ème Forme Normale (3NF)</a:t>
            </a:r>
            <a:br/>
            <a:r>
              <a:t>• Polymorphisme : Class Table Inheritance (CTI) via annotations JPA</a:t>
            </a:r>
            <a:br/>
            <a:r>
              <a:t>• ACIDité : Transactions Spring</a:t>
            </a:r>
            <a:br/>
            <a:r>
              <a:t>• Sécurité : Soft Delete natif + Registre d'audit immuable (audit_log)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685800" y="457200"/>
            <a:ext cx="10817352" cy="914400"/>
          </a:xfrm>
          <a:prstGeom prst="rect">
            <a:avLst/>
          </a:prstGeom>
          <a:noFill/>
        </p:spPr>
        <p:txBody>
          <a:bodyPr wrap="square" lIns="0" tIns="0" rIns="0" bIns="0">
            <a:spAutoFit/>
          </a:bodyPr>
          <a:lstStyle/>
          <a:p>
            <a:pPr>
              <a:defRPr sz="3600" b="1">
                <a:solidFill>
                  <a:srgbClr val="0F172A"/>
                </a:solidFill>
                <a:latin typeface="Arial"/>
              </a:defRPr>
            </a:pPr>
            <a:r>
              <a:t>Résilience Hors-Ligne (PWA &amp; Offline-First)</a:t>
            </a:r>
          </a:p>
        </p:txBody>
      </p:sp>
      <p:sp>
        <p:nvSpPr>
          <p:cNvPr id="3" name="TextBox 2"/>
          <p:cNvSpPr txBox="1"/>
          <p:nvPr/>
        </p:nvSpPr>
        <p:spPr>
          <a:xfrm>
            <a:off x="10515600" y="6217920"/>
            <a:ext cx="1371600" cy="457200"/>
          </a:xfrm>
          <a:prstGeom prst="rect">
            <a:avLst/>
          </a:prstGeom>
          <a:noFill/>
        </p:spPr>
        <p:txBody>
          <a:bodyPr wrap="none">
            <a:spAutoFit/>
          </a:bodyPr>
          <a:lstStyle/>
          <a:p>
            <a:pPr algn="r">
              <a:defRPr sz="1100">
                <a:solidFill>
                  <a:srgbClr val="334155"/>
                </a:solidFill>
                <a:latin typeface="Arial"/>
              </a:defRPr>
            </a:pPr>
            <a:r>
              <a:t>7 / 17</a:t>
            </a:r>
          </a:p>
        </p:txBody>
      </p:sp>
      <p:sp>
        <p:nvSpPr>
          <p:cNvPr id="4" name="TextBox 3"/>
          <p:cNvSpPr txBox="1"/>
          <p:nvPr/>
        </p:nvSpPr>
        <p:spPr>
          <a:xfrm>
            <a:off x="685800" y="1645920"/>
            <a:ext cx="5486400" cy="4114800"/>
          </a:xfrm>
          <a:prstGeom prst="rect">
            <a:avLst/>
          </a:prstGeom>
          <a:noFill/>
        </p:spPr>
        <p:txBody>
          <a:bodyPr wrap="square">
            <a:spAutoFit/>
          </a:bodyPr>
          <a:lstStyle/>
          <a:p>
            <a:pPr>
              <a:defRPr b="1" sz="1800">
                <a:solidFill>
                  <a:srgbClr val="0D9488"/>
                </a:solidFill>
              </a:defRPr>
            </a:pPr>
            <a:r>
              <a:t>Fonctionnement en Zone Blanche</a:t>
            </a:r>
          </a:p>
          <a:p>
            <a:pPr>
              <a:spcBef>
                <a:spcPts val="800"/>
              </a:spcBef>
              <a:defRPr sz="1300">
                <a:solidFill>
                  <a:srgbClr val="0F172A"/>
                </a:solidFill>
              </a:defRPr>
            </a:pPr>
            <a:r>
              <a:t>• Le personnel en entrepôt ou en route (chauffeurs) fait face à des coupures réseau récurrentes.</a:t>
            </a:r>
          </a:p>
          <a:p>
            <a:pPr>
              <a:spcBef>
                <a:spcPts val="800"/>
              </a:spcBef>
              <a:defRPr sz="1300">
                <a:solidFill>
                  <a:srgbClr val="0F172A"/>
                </a:solidFill>
              </a:defRPr>
            </a:pPr>
            <a:r>
              <a:t>• Next.js PWA télécharge l'interface sur le mobile pour une exécution locale autonome.</a:t>
            </a:r>
          </a:p>
          <a:p>
            <a:pPr>
              <a:spcBef>
                <a:spcPts val="800"/>
              </a:spcBef>
              <a:defRPr sz="1300">
                <a:solidFill>
                  <a:srgbClr val="0F172A"/>
                </a:solidFill>
              </a:defRPr>
            </a:pPr>
            <a:r>
              <a:t>• IndexedDB sert de base locale temporaire pour stocker les demandes soumises hors-ligne.</a:t>
            </a:r>
          </a:p>
          <a:p>
            <a:pPr>
              <a:spcBef>
                <a:spcPts val="800"/>
              </a:spcBef>
              <a:defRPr sz="1300">
                <a:solidFill>
                  <a:srgbClr val="0F172A"/>
                </a:solidFill>
              </a:defRPr>
            </a:pPr>
            <a:r>
              <a:t>• Génération d'identifiants uniques UUID côté client pour éviter toute collision à la synchronisation.</a:t>
            </a:r>
          </a:p>
          <a:p>
            <a:pPr>
              <a:spcBef>
                <a:spcPts val="800"/>
              </a:spcBef>
              <a:defRPr sz="1300">
                <a:solidFill>
                  <a:srgbClr val="0F172A"/>
                </a:solidFill>
              </a:defRPr>
            </a:pPr>
            <a:r>
              <a:t>• Le Service Worker écoute l'événement de reconnexion réseau (`online`) et synchronise par lots avec PostgreSQL.</a:t>
            </a:r>
          </a:p>
        </p:txBody>
      </p:sp>
      <p:sp>
        <p:nvSpPr>
          <p:cNvPr id="5" name="Rounded Rectangle 4"/>
          <p:cNvSpPr/>
          <p:nvPr/>
        </p:nvSpPr>
        <p:spPr>
          <a:xfrm>
            <a:off x="6583680" y="1645920"/>
            <a:ext cx="4846320" cy="411480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365760" tIns="365760"/>
          <a:lstStyle/>
          <a:p>
            <a:pPr algn="ctr">
              <a:defRPr b="1" sz="1600">
                <a:solidFill>
                  <a:srgbClr val="0F172A"/>
                </a:solidFill>
              </a:defRPr>
            </a:pPr>
            <a:r>
              <a:t>🔄 Scénario de Synchronisation :</a:t>
            </a:r>
          </a:p>
          <a:p>
            <a:pPr>
              <a:spcBef>
                <a:spcPts val="800"/>
              </a:spcBef>
              <a:defRPr sz="1300">
                <a:solidFill>
                  <a:srgbClr val="334155"/>
                </a:solidFill>
              </a:defRPr>
            </a:pPr>
            <a:r>
              <a:t>1. Réseau OFF → Employé soumet une requête.</a:t>
            </a:r>
          </a:p>
          <a:p>
            <a:pPr>
              <a:spcBef>
                <a:spcPts val="800"/>
              </a:spcBef>
              <a:defRPr sz="1300">
                <a:solidFill>
                  <a:srgbClr val="334155"/>
                </a:solidFill>
              </a:defRPr>
            </a:pPr>
            <a:r>
              <a:t>2. PWA génère un UUID et sauvegarde dans IndexedDB.</a:t>
            </a:r>
          </a:p>
          <a:p>
            <a:pPr>
              <a:spcBef>
                <a:spcPts val="800"/>
              </a:spcBef>
              <a:defRPr sz="1300">
                <a:solidFill>
                  <a:srgbClr val="334155"/>
                </a:solidFill>
              </a:defRPr>
            </a:pPr>
            <a:r>
              <a:t>3. Notification locale : 'Sauvegardé hors-ligne'.</a:t>
            </a:r>
          </a:p>
          <a:p>
            <a:pPr>
              <a:spcBef>
                <a:spcPts val="800"/>
              </a:spcBef>
              <a:defRPr sz="1300">
                <a:solidFill>
                  <a:srgbClr val="334155"/>
                </a:solidFill>
              </a:defRPr>
            </a:pPr>
            <a:r>
              <a:t>4. Réseau ON → Événement de reconnexion déclenché.</a:t>
            </a:r>
          </a:p>
          <a:p>
            <a:pPr>
              <a:spcBef>
                <a:spcPts val="800"/>
              </a:spcBef>
              <a:defRPr sz="1300">
                <a:solidFill>
                  <a:srgbClr val="334155"/>
                </a:solidFill>
              </a:defRPr>
            </a:pPr>
            <a:r>
              <a:t>5. Requête POST groupée vers `/api/requetes/sync`.</a:t>
            </a:r>
          </a:p>
          <a:p>
            <a:pPr>
              <a:spcBef>
                <a:spcPts val="800"/>
              </a:spcBef>
              <a:defRPr sz="1300">
                <a:solidFill>
                  <a:srgbClr val="334155"/>
                </a:solidFill>
              </a:defRPr>
            </a:pPr>
            <a:r>
              <a:t>6. Insertion ACID en BDD + Suppression locale IndexedDB.</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685800" y="457200"/>
            <a:ext cx="10817352" cy="914400"/>
          </a:xfrm>
          <a:prstGeom prst="rect">
            <a:avLst/>
          </a:prstGeom>
          <a:noFill/>
        </p:spPr>
        <p:txBody>
          <a:bodyPr wrap="square" lIns="0" tIns="0" rIns="0" bIns="0">
            <a:spAutoFit/>
          </a:bodyPr>
          <a:lstStyle/>
          <a:p>
            <a:pPr>
              <a:defRPr sz="3600" b="1">
                <a:solidFill>
                  <a:srgbClr val="0F172A"/>
                </a:solidFill>
                <a:latin typeface="Arial"/>
              </a:defRPr>
            </a:pPr>
            <a:r>
              <a:t>Robustesse &amp; Piste d'Audit réglementaire</a:t>
            </a:r>
          </a:p>
        </p:txBody>
      </p:sp>
      <p:sp>
        <p:nvSpPr>
          <p:cNvPr id="3" name="TextBox 2"/>
          <p:cNvSpPr txBox="1"/>
          <p:nvPr/>
        </p:nvSpPr>
        <p:spPr>
          <a:xfrm>
            <a:off x="10515600" y="6217920"/>
            <a:ext cx="1371600" cy="457200"/>
          </a:xfrm>
          <a:prstGeom prst="rect">
            <a:avLst/>
          </a:prstGeom>
          <a:noFill/>
        </p:spPr>
        <p:txBody>
          <a:bodyPr wrap="none">
            <a:spAutoFit/>
          </a:bodyPr>
          <a:lstStyle/>
          <a:p>
            <a:pPr algn="r">
              <a:defRPr sz="1100">
                <a:solidFill>
                  <a:srgbClr val="334155"/>
                </a:solidFill>
                <a:latin typeface="Arial"/>
              </a:defRPr>
            </a:pPr>
            <a:r>
              <a:t>8 / 17</a:t>
            </a:r>
          </a:p>
        </p:txBody>
      </p:sp>
      <p:sp>
        <p:nvSpPr>
          <p:cNvPr id="4" name="TextBox 3"/>
          <p:cNvSpPr txBox="1"/>
          <p:nvPr/>
        </p:nvSpPr>
        <p:spPr>
          <a:xfrm>
            <a:off x="685800" y="1645920"/>
            <a:ext cx="5486400" cy="4114800"/>
          </a:xfrm>
          <a:prstGeom prst="rect">
            <a:avLst/>
          </a:prstGeom>
          <a:noFill/>
        </p:spPr>
        <p:txBody>
          <a:bodyPr wrap="square">
            <a:spAutoFit/>
          </a:bodyPr>
          <a:lstStyle/>
          <a:p>
            <a:pPr>
              <a:defRPr b="1" sz="1800">
                <a:solidFill>
                  <a:srgbClr val="0D9488"/>
                </a:solidFill>
              </a:defRPr>
            </a:pPr>
            <a:r>
              <a:t>Immutabilité et Sécurité des Données</a:t>
            </a:r>
          </a:p>
          <a:p>
            <a:pPr>
              <a:spcBef>
                <a:spcPts val="1000"/>
              </a:spcBef>
              <a:defRPr sz="1300">
                <a:solidFill>
                  <a:srgbClr val="0F172A"/>
                </a:solidFill>
              </a:defRPr>
            </a:pPr>
            <a:r>
              <a:t>• Registre d'Audit Immuable : Un `AuditService` backend intercepte toute opération sensible (connexions, modifications de solde, validation).</a:t>
            </a:r>
          </a:p>
          <a:p>
            <a:pPr>
              <a:spcBef>
                <a:spcPts val="1000"/>
              </a:spcBef>
              <a:defRPr sz="1300">
                <a:solidFill>
                  <a:srgbClr val="0F172A"/>
                </a:solidFill>
              </a:defRPr>
            </a:pPr>
            <a:r>
              <a:t>• Chaque log est inséré de façon définitive dans `audit_log` (Horodatage, Acteur, Action, Détails) empêchant toute falsification rétrospective.</a:t>
            </a:r>
          </a:p>
          <a:p>
            <a:pPr>
              <a:spcBef>
                <a:spcPts val="1000"/>
              </a:spcBef>
              <a:defRPr sz="1300">
                <a:solidFill>
                  <a:srgbClr val="0F172A"/>
                </a:solidFill>
              </a:defRPr>
            </a:pPr>
            <a:r>
              <a:t>• Soft Delete natif via Hibernate : Respect des contraintes réglementaires RH. Aucune suppression physique.</a:t>
            </a:r>
          </a:p>
          <a:p>
            <a:pPr>
              <a:spcBef>
                <a:spcPts val="1000"/>
              </a:spcBef>
              <a:defRPr sz="1300">
                <a:solidFill>
                  <a:srgbClr val="0F172A"/>
                </a:solidFill>
              </a:defRPr>
            </a:pPr>
            <a:r>
              <a:t>• Les entités supprimées sont simplement marquées `deleted = true` via `@SQLDelete` et filtrées automatiquement par `@SQLRestriction`.</a:t>
            </a:r>
          </a:p>
        </p:txBody>
      </p:sp>
      <p:sp>
        <p:nvSpPr>
          <p:cNvPr id="5" name="Rounded Rectangle 4"/>
          <p:cNvSpPr/>
          <p:nvPr/>
        </p:nvSpPr>
        <p:spPr>
          <a:xfrm>
            <a:off x="6583680" y="1645920"/>
            <a:ext cx="4846320" cy="411480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tIns="365760"/>
          <a:lstStyle/>
          <a:p>
            <a:pPr algn="ctr">
              <a:defRPr b="1" sz="1800">
                <a:solidFill>
                  <a:srgbClr val="10B981"/>
                </a:solidFill>
              </a:defRPr>
            </a:pPr>
            <a:r>
              <a:t>🛡️ Piste d'Audit Actives</a:t>
            </a:r>
          </a:p>
          <a:p>
            <a:pPr>
              <a:spcBef>
                <a:spcPts val="1500"/>
              </a:spcBef>
              <a:defRPr sz="1300">
                <a:solidFill>
                  <a:srgbClr val="FFFFFF"/>
                </a:solidFill>
              </a:defRPr>
            </a:pPr>
            <a:r>
              <a:t>Chaque transaction critique fait l'objet d'un log chiffré et tracé. L'association de transactions Spring hautement transactionnelles (@Transactional) et de triggers de sécurité en BDD garantit qu'en cas d'erreur de réseau ou de système, un rollback automatique est opéré pour empêcher la corruption des quotas de congés.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685800" y="457200"/>
            <a:ext cx="10817352" cy="914400"/>
          </a:xfrm>
          <a:prstGeom prst="rect">
            <a:avLst/>
          </a:prstGeom>
          <a:noFill/>
        </p:spPr>
        <p:txBody>
          <a:bodyPr wrap="square" lIns="0" tIns="0" rIns="0" bIns="0">
            <a:spAutoFit/>
          </a:bodyPr>
          <a:lstStyle/>
          <a:p>
            <a:pPr>
              <a:defRPr sz="3600" b="1">
                <a:solidFill>
                  <a:srgbClr val="0F172A"/>
                </a:solidFill>
                <a:latin typeface="Arial"/>
              </a:defRPr>
            </a:pPr>
            <a:r>
              <a:t>Choix Technologiques Motivés</a:t>
            </a:r>
          </a:p>
        </p:txBody>
      </p:sp>
      <p:sp>
        <p:nvSpPr>
          <p:cNvPr id="3" name="TextBox 2"/>
          <p:cNvSpPr txBox="1"/>
          <p:nvPr/>
        </p:nvSpPr>
        <p:spPr>
          <a:xfrm>
            <a:off x="10515600" y="6217920"/>
            <a:ext cx="1371600" cy="457200"/>
          </a:xfrm>
          <a:prstGeom prst="rect">
            <a:avLst/>
          </a:prstGeom>
          <a:noFill/>
        </p:spPr>
        <p:txBody>
          <a:bodyPr wrap="none">
            <a:spAutoFit/>
          </a:bodyPr>
          <a:lstStyle/>
          <a:p>
            <a:pPr algn="r">
              <a:defRPr sz="1100">
                <a:solidFill>
                  <a:srgbClr val="334155"/>
                </a:solidFill>
                <a:latin typeface="Arial"/>
              </a:defRPr>
            </a:pPr>
            <a:r>
              <a:t>9 / 17</a:t>
            </a:r>
          </a:p>
        </p:txBody>
      </p:sp>
      <p:sp>
        <p:nvSpPr>
          <p:cNvPr id="4" name="TextBox 3"/>
          <p:cNvSpPr txBox="1"/>
          <p:nvPr/>
        </p:nvSpPr>
        <p:spPr>
          <a:xfrm>
            <a:off x="685800" y="1645920"/>
            <a:ext cx="10789920" cy="4114800"/>
          </a:xfrm>
          <a:prstGeom prst="rect">
            <a:avLst/>
          </a:prstGeom>
          <a:noFill/>
        </p:spPr>
        <p:txBody>
          <a:bodyPr wrap="square">
            <a:spAutoFit/>
          </a:bodyPr>
          <a:lstStyle/>
          <a:p>
            <a:pPr>
              <a:defRPr b="1" sz="1800">
                <a:solidFill>
                  <a:srgbClr val="0D9488"/>
                </a:solidFill>
              </a:defRPr>
            </a:pPr>
            <a:r>
              <a:t>Pourquoi cette Stack Full-Stack Java / Next.js ?</a:t>
            </a:r>
          </a:p>
          <a:p>
            <a:pPr>
              <a:spcBef>
                <a:spcPts val="1000"/>
              </a:spcBef>
              <a:defRPr b="1" sz="1300">
                <a:solidFill>
                  <a:srgbClr val="0F172A"/>
                </a:solidFill>
              </a:defRPr>
            </a:pPr>
            <a:r>
              <a:t>⚙️ Next.js vs React SPA classique :</a:t>
            </a:r>
          </a:p>
          <a:p>
            <a:pPr>
              <a:spcBef>
                <a:spcPts val="200"/>
              </a:spcBef>
              <a:defRPr sz="1200">
                <a:solidFill>
                  <a:srgbClr val="334155"/>
                </a:solidFill>
              </a:defRPr>
            </a:pPr>
            <a:r>
              <a:t>Next.js apporte le routage par composants optimisé, une performance d'affichage accrue, et facilite la mise en cache indispensable au mode PWA offline.</a:t>
            </a:r>
          </a:p>
          <a:p>
            <a:pPr>
              <a:spcBef>
                <a:spcPts val="1000"/>
              </a:spcBef>
              <a:defRPr b="1" sz="1300">
                <a:solidFill>
                  <a:srgbClr val="0F172A"/>
                </a:solidFill>
              </a:defRPr>
            </a:pPr>
            <a:r>
              <a:t>⚙️ Spring Boot 3 vs PHP/XAMPP :</a:t>
            </a:r>
          </a:p>
          <a:p>
            <a:pPr>
              <a:spcBef>
                <a:spcPts val="200"/>
              </a:spcBef>
              <a:defRPr sz="1200">
                <a:solidFill>
                  <a:srgbClr val="334155"/>
                </a:solidFill>
              </a:defRPr>
            </a:pPr>
            <a:r>
              <a:t>Spring Boot offre un écosystème robuste avec Spring Security, une gestion rigoureuse des injections de dépendance, des transactions ACID robustes (@Transactional), et des performances idéales en environnement entreprise.</a:t>
            </a:r>
          </a:p>
          <a:p>
            <a:pPr>
              <a:spcBef>
                <a:spcPts val="1000"/>
              </a:spcBef>
              <a:defRPr b="1" sz="1300">
                <a:solidFill>
                  <a:srgbClr val="0F172A"/>
                </a:solidFill>
              </a:defRPr>
            </a:pPr>
            <a:r>
              <a:t>⚙️ PostgreSQL vs MySQL / SQLite :</a:t>
            </a:r>
          </a:p>
          <a:p>
            <a:pPr>
              <a:spcBef>
                <a:spcPts val="200"/>
              </a:spcBef>
              <a:defRPr sz="1200">
                <a:solidFill>
                  <a:srgbClr val="334155"/>
                </a:solidFill>
              </a:defRPr>
            </a:pPr>
            <a:r>
              <a:t>PostgreSQL excelle dans la conformité ACID, supporte nativement l'héritage de tables (essentiel pour notre modèle de Requête polymorphe), et garantit une intégrité référentielle stricte.</a:t>
            </a:r>
          </a:p>
          <a:p>
            <a:pPr>
              <a:spcBef>
                <a:spcPts val="1000"/>
              </a:spcBef>
              <a:defRPr b="1" sz="1300">
                <a:solidFill>
                  <a:srgbClr val="0F172A"/>
                </a:solidFill>
              </a:defRPr>
            </a:pPr>
            <a:r>
              <a:t>⚙️ iTextPDF + HMAC vs PDF standard :</a:t>
            </a:r>
          </a:p>
          <a:p>
            <a:pPr>
              <a:spcBef>
                <a:spcPts val="200"/>
              </a:spcBef>
              <a:defRPr sz="1200">
                <a:solidFill>
                  <a:srgbClr val="334155"/>
                </a:solidFill>
              </a:defRPr>
            </a:pPr>
            <a:r>
              <a:t>L'ajout d'une signature HMAC dans le QR Code garantit l'intégrité absolue du bon de sortie. Impossible pour un tiers de modifier les heures ou le nom de l'agent sans corrompre le hash.</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685800" y="457200"/>
            <a:ext cx="10817352" cy="914400"/>
          </a:xfrm>
          <a:prstGeom prst="rect">
            <a:avLst/>
          </a:prstGeom>
          <a:noFill/>
        </p:spPr>
        <p:txBody>
          <a:bodyPr wrap="square" lIns="0" tIns="0" rIns="0" bIns="0">
            <a:spAutoFit/>
          </a:bodyPr>
          <a:lstStyle/>
          <a:p>
            <a:pPr>
              <a:defRPr sz="3600" b="1">
                <a:solidFill>
                  <a:srgbClr val="0F172A"/>
                </a:solidFill>
                <a:latin typeface="Arial"/>
              </a:defRPr>
            </a:pPr>
            <a:r>
              <a:t>Modèle Conceptuel de Données (MCD)</a:t>
            </a:r>
          </a:p>
        </p:txBody>
      </p:sp>
      <p:sp>
        <p:nvSpPr>
          <p:cNvPr id="3" name="TextBox 2"/>
          <p:cNvSpPr txBox="1"/>
          <p:nvPr/>
        </p:nvSpPr>
        <p:spPr>
          <a:xfrm>
            <a:off x="10515600" y="6217920"/>
            <a:ext cx="1371600" cy="457200"/>
          </a:xfrm>
          <a:prstGeom prst="rect">
            <a:avLst/>
          </a:prstGeom>
          <a:noFill/>
        </p:spPr>
        <p:txBody>
          <a:bodyPr wrap="none">
            <a:spAutoFit/>
          </a:bodyPr>
          <a:lstStyle/>
          <a:p>
            <a:pPr algn="r">
              <a:defRPr sz="1100">
                <a:solidFill>
                  <a:srgbClr val="334155"/>
                </a:solidFill>
                <a:latin typeface="Arial"/>
              </a:defRPr>
            </a:pPr>
            <a:r>
              <a:t>10 / 17</a:t>
            </a:r>
          </a:p>
        </p:txBody>
      </p:sp>
      <p:sp>
        <p:nvSpPr>
          <p:cNvPr id="4" name="TextBox 3"/>
          <p:cNvSpPr txBox="1"/>
          <p:nvPr/>
        </p:nvSpPr>
        <p:spPr>
          <a:xfrm>
            <a:off x="685800" y="1645920"/>
            <a:ext cx="3291840" cy="4114800"/>
          </a:xfrm>
          <a:prstGeom prst="rect">
            <a:avLst/>
          </a:prstGeom>
          <a:noFill/>
        </p:spPr>
        <p:txBody>
          <a:bodyPr wrap="square">
            <a:spAutoFit/>
          </a:bodyPr>
          <a:lstStyle/>
          <a:p>
            <a:pPr>
              <a:defRPr b="1" sz="1600">
                <a:solidFill>
                  <a:srgbClr val="0D9488"/>
                </a:solidFill>
              </a:defRPr>
            </a:pPr>
            <a:r>
              <a:t>👥 Identités &amp; Organisation</a:t>
            </a:r>
          </a:p>
          <a:p>
            <a:pPr>
              <a:spcBef>
                <a:spcPts val="800"/>
              </a:spcBef>
              <a:defRPr sz="1100">
                <a:solidFill>
                  <a:srgbClr val="0F172A"/>
                </a:solidFill>
              </a:defRPr>
            </a:pPr>
            <a:r>
              <a:t>• UTILISATEUR : id_user, matricule, nom, prenom, email, solde_conges, statut, manager_id</a:t>
            </a:r>
          </a:p>
          <a:p>
            <a:pPr>
              <a:spcBef>
                <a:spcPts val="800"/>
              </a:spcBef>
              <a:defRPr sz="1100">
                <a:solidFill>
                  <a:srgbClr val="0F172A"/>
                </a:solidFill>
              </a:defRPr>
            </a:pPr>
            <a:r>
              <a:t>• ROLE : id_role, nom_role, weight (poids hiérarchique)</a:t>
            </a:r>
          </a:p>
          <a:p>
            <a:pPr>
              <a:spcBef>
                <a:spcPts val="800"/>
              </a:spcBef>
              <a:defRPr sz="1100">
                <a:solidFill>
                  <a:srgbClr val="0F172A"/>
                </a:solidFill>
              </a:defRPr>
            </a:pPr>
            <a:r>
              <a:t>• DEPARTEMENT : id_dept, nom_dept, manager_id</a:t>
            </a:r>
          </a:p>
          <a:p>
            <a:pPr>
              <a:spcBef>
                <a:spcPts val="800"/>
              </a:spcBef>
              <a:defRPr sz="1100">
                <a:solidFill>
                  <a:srgbClr val="0F172A"/>
                </a:solidFill>
              </a:defRPr>
            </a:pPr>
            <a:r>
              <a:t>• SITE / POSTE : Informations géographiques et attribution des fonctions.</a:t>
            </a:r>
          </a:p>
        </p:txBody>
      </p:sp>
      <p:sp>
        <p:nvSpPr>
          <p:cNvPr id="5" name="TextBox 4"/>
          <p:cNvSpPr txBox="1"/>
          <p:nvPr/>
        </p:nvSpPr>
        <p:spPr>
          <a:xfrm>
            <a:off x="4434840" y="1645920"/>
            <a:ext cx="3291840" cy="4114800"/>
          </a:xfrm>
          <a:prstGeom prst="rect">
            <a:avLst/>
          </a:prstGeom>
          <a:noFill/>
        </p:spPr>
        <p:txBody>
          <a:bodyPr wrap="square">
            <a:spAutoFit/>
          </a:bodyPr>
          <a:lstStyle/>
          <a:p>
            <a:pPr>
              <a:defRPr b="1" sz="1600">
                <a:solidFill>
                  <a:srgbClr val="0D9488"/>
                </a:solidFill>
              </a:defRPr>
            </a:pPr>
            <a:r>
              <a:t>⚙️ Requêtes &amp; Workflows (CTI)</a:t>
            </a:r>
          </a:p>
          <a:p>
            <a:pPr>
              <a:spcBef>
                <a:spcPts val="800"/>
              </a:spcBef>
              <a:defRPr sz="1100">
                <a:solidFill>
                  <a:srgbClr val="0F172A"/>
                </a:solidFill>
              </a:defRPr>
            </a:pPr>
            <a:r>
              <a:t>• REQUETE (Mère) : id_requete (UUID), date_soumission, statut_cycle_vie, deleted</a:t>
            </a:r>
          </a:p>
          <a:p>
            <a:pPr>
              <a:spcBef>
                <a:spcPts val="800"/>
              </a:spcBef>
              <a:defRPr sz="1100">
                <a:solidFill>
                  <a:srgbClr val="0F172A"/>
                </a:solidFill>
              </a:defRPr>
            </a:pPr>
            <a:r>
              <a:t>• DEMANDE_CONGE (Fille) : id_requete, date_debut, date_fin, motif, balance_deducted</a:t>
            </a:r>
          </a:p>
          <a:p>
            <a:pPr>
              <a:spcBef>
                <a:spcPts val="800"/>
              </a:spcBef>
              <a:defRPr sz="1100">
                <a:solidFill>
                  <a:srgbClr val="0F172A"/>
                </a:solidFill>
              </a:defRPr>
            </a:pPr>
            <a:r>
              <a:t>• DEMANDE_DOCUMENT (Fille) : id_requete, type_document, annee, mois</a:t>
            </a:r>
          </a:p>
          <a:p>
            <a:pPr>
              <a:spcBef>
                <a:spcPts val="800"/>
              </a:spcBef>
              <a:defRPr sz="1100">
                <a:solidFill>
                  <a:srgbClr val="0F172A"/>
                </a:solidFill>
              </a:defRPr>
            </a:pPr>
            <a:r>
              <a:t>• WORKFLOW_ETAPE / CIRCUIT : id_etape, ordre, role_validateur_id</a:t>
            </a:r>
          </a:p>
        </p:txBody>
      </p:sp>
      <p:sp>
        <p:nvSpPr>
          <p:cNvPr id="6" name="TextBox 5"/>
          <p:cNvSpPr txBox="1"/>
          <p:nvPr/>
        </p:nvSpPr>
        <p:spPr>
          <a:xfrm>
            <a:off x="8183879" y="1645920"/>
            <a:ext cx="3291840" cy="4114800"/>
          </a:xfrm>
          <a:prstGeom prst="rect">
            <a:avLst/>
          </a:prstGeom>
          <a:noFill/>
        </p:spPr>
        <p:txBody>
          <a:bodyPr wrap="square">
            <a:spAutoFit/>
          </a:bodyPr>
          <a:lstStyle/>
          <a:p>
            <a:pPr>
              <a:defRPr b="1" sz="1600">
                <a:solidFill>
                  <a:srgbClr val="10B981"/>
                </a:solidFill>
              </a:defRPr>
            </a:pPr>
            <a:r>
              <a:t>🔒 Activité &amp; Sécurité</a:t>
            </a:r>
          </a:p>
          <a:p>
            <a:pPr>
              <a:spcBef>
                <a:spcPts val="800"/>
              </a:spcBef>
              <a:defRPr sz="1100">
                <a:solidFill>
                  <a:srgbClr val="0F172A"/>
                </a:solidFill>
              </a:defRPr>
            </a:pPr>
            <a:r>
              <a:t>• BON_DE_SORTIE : id, token_qr, heure_debut, heure_fin, statut, id_requete_origine (UUID)</a:t>
            </a:r>
          </a:p>
          <a:p>
            <a:pPr>
              <a:spcBef>
                <a:spcPts val="800"/>
              </a:spcBef>
              <a:defRPr sz="1100">
                <a:solidFill>
                  <a:srgbClr val="0F172A"/>
                </a:solidFill>
              </a:defRPr>
            </a:pPr>
            <a:r>
              <a:t>• POINTAGE : id, horodate, type_pointage (entrée/sortie), latitude, longitude, statut</a:t>
            </a:r>
          </a:p>
          <a:p>
            <a:pPr>
              <a:spcBef>
                <a:spcPts val="800"/>
              </a:spcBef>
              <a:defRPr sz="1100">
                <a:solidFill>
                  <a:srgbClr val="0F172A"/>
                </a:solidFill>
              </a:defRPr>
            </a:pPr>
            <a:r>
              <a:t>• AUDIT_LOG : id, timestamp, action_type, details, actor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685800" y="457200"/>
            <a:ext cx="10817352" cy="914400"/>
          </a:xfrm>
          <a:prstGeom prst="rect">
            <a:avLst/>
          </a:prstGeom>
          <a:noFill/>
        </p:spPr>
        <p:txBody>
          <a:bodyPr wrap="square" lIns="0" tIns="0" rIns="0" bIns="0">
            <a:spAutoFit/>
          </a:bodyPr>
          <a:lstStyle/>
          <a:p>
            <a:pPr>
              <a:defRPr sz="3600" b="1">
                <a:solidFill>
                  <a:srgbClr val="0F172A"/>
                </a:solidFill>
                <a:latin typeface="Arial"/>
              </a:defRPr>
            </a:pPr>
            <a:r>
              <a:t>Patrons de Conception Database &amp; ORM</a:t>
            </a:r>
          </a:p>
        </p:txBody>
      </p:sp>
      <p:sp>
        <p:nvSpPr>
          <p:cNvPr id="3" name="TextBox 2"/>
          <p:cNvSpPr txBox="1"/>
          <p:nvPr/>
        </p:nvSpPr>
        <p:spPr>
          <a:xfrm>
            <a:off x="10515600" y="6217920"/>
            <a:ext cx="1371600" cy="457200"/>
          </a:xfrm>
          <a:prstGeom prst="rect">
            <a:avLst/>
          </a:prstGeom>
          <a:noFill/>
        </p:spPr>
        <p:txBody>
          <a:bodyPr wrap="none">
            <a:spAutoFit/>
          </a:bodyPr>
          <a:lstStyle/>
          <a:p>
            <a:pPr algn="r">
              <a:defRPr sz="1100">
                <a:solidFill>
                  <a:srgbClr val="334155"/>
                </a:solidFill>
                <a:latin typeface="Arial"/>
              </a:defRPr>
            </a:pPr>
            <a:r>
              <a:t>11 / 17</a:t>
            </a:r>
          </a:p>
        </p:txBody>
      </p:sp>
      <p:sp>
        <p:nvSpPr>
          <p:cNvPr id="4" name="TextBox 3"/>
          <p:cNvSpPr txBox="1"/>
          <p:nvPr/>
        </p:nvSpPr>
        <p:spPr>
          <a:xfrm>
            <a:off x="685800" y="1645920"/>
            <a:ext cx="5486400" cy="4114800"/>
          </a:xfrm>
          <a:prstGeom prst="rect">
            <a:avLst/>
          </a:prstGeom>
          <a:noFill/>
        </p:spPr>
        <p:txBody>
          <a:bodyPr wrap="square">
            <a:spAutoFit/>
          </a:bodyPr>
          <a:lstStyle/>
          <a:p>
            <a:pPr>
              <a:defRPr b="1" sz="1800">
                <a:solidFill>
                  <a:srgbClr val="0D9488"/>
                </a:solidFill>
              </a:defRPr>
            </a:pPr>
            <a:r>
              <a:t>Choix Structurels de la Base de Données</a:t>
            </a:r>
          </a:p>
          <a:p>
            <a:pPr>
              <a:spcBef>
                <a:spcPts val="800"/>
              </a:spcBef>
              <a:defRPr sz="1300">
                <a:solidFill>
                  <a:srgbClr val="0F172A"/>
                </a:solidFill>
              </a:defRPr>
            </a:pPr>
            <a:r>
              <a:t>• Normalisation 3NF rigoureuse pour éliminer les redondances et maintenir l'intégrité référentielle absolue.</a:t>
            </a:r>
          </a:p>
          <a:p>
            <a:pPr>
              <a:spcBef>
                <a:spcPts val="800"/>
              </a:spcBef>
              <a:defRPr sz="1300">
                <a:solidFill>
                  <a:srgbClr val="0F172A"/>
                </a:solidFill>
              </a:defRPr>
            </a:pPr>
            <a:r>
              <a:t>• Héritage Class Table Inheritance (CTI) : Implémenté via l'annotation Hibernate `@Inheritance(strategy = InheritanceType.JOINED)`.</a:t>
            </a:r>
          </a:p>
          <a:p>
            <a:pPr>
              <a:spcBef>
                <a:spcPts val="800"/>
              </a:spcBef>
              <a:defRPr sz="1300">
                <a:solidFill>
                  <a:srgbClr val="0F172A"/>
                </a:solidFill>
              </a:defRPr>
            </a:pPr>
            <a:r>
              <a:t>• La table mère `requete` centralise les attributs communs (UUID, workflow, traçabilité), et les tables filles (`demande_conge`, `demande_document`) stockent uniquement les données spécifiques.</a:t>
            </a:r>
          </a:p>
          <a:p>
            <a:pPr>
              <a:spcBef>
                <a:spcPts val="800"/>
              </a:spcBef>
              <a:defRPr sz="1300">
                <a:solidFill>
                  <a:srgbClr val="0F172A"/>
                </a:solidFill>
              </a:defRPr>
            </a:pPr>
            <a:r>
              <a:t>• Permet des requêtes polymorphes efficaces côté Spring (ex: lister toutes les requêtes en attente d'un manager indépendamment de leur type).</a:t>
            </a:r>
          </a:p>
        </p:txBody>
      </p:sp>
      <p:sp>
        <p:nvSpPr>
          <p:cNvPr id="5" name="Rounded Rectangle 4"/>
          <p:cNvSpPr/>
          <p:nvPr/>
        </p:nvSpPr>
        <p:spPr>
          <a:xfrm>
            <a:off x="6583680" y="1645920"/>
            <a:ext cx="4846320" cy="411480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365760" tIns="365760"/>
          <a:lstStyle/>
          <a:p>
            <a:pPr algn="ctr">
              <a:defRPr b="1" sz="1600">
                <a:solidFill>
                  <a:srgbClr val="0F172A"/>
                </a:solidFill>
              </a:defRPr>
            </a:pPr>
            <a:r>
              <a:t>💡 Transactions ACID &amp; JPA</a:t>
            </a:r>
          </a:p>
          <a:p>
            <a:pPr>
              <a:spcBef>
                <a:spcPts val="1500"/>
              </a:spcBef>
              <a:defRPr sz="1300">
                <a:solidFill>
                  <a:srgbClr val="334155"/>
                </a:solidFill>
              </a:defRPr>
            </a:pPr>
            <a:r>
              <a:t>L'approbation finale d'une demande de congé doit impérativement déduire le quota de jours de l'utilisateur ET clôturer la demande au même instant. L'annotation @Transactional de Spring assure l'atomicité totale de cette double opération. En cas de défaillance, un rollback automatique est exécuté, empêchant toute corruption ou désynchronisation des soldes.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685800" y="457200"/>
            <a:ext cx="10817352" cy="914400"/>
          </a:xfrm>
          <a:prstGeom prst="rect">
            <a:avLst/>
          </a:prstGeom>
          <a:noFill/>
        </p:spPr>
        <p:txBody>
          <a:bodyPr wrap="square" lIns="0" tIns="0" rIns="0" bIns="0">
            <a:spAutoFit/>
          </a:bodyPr>
          <a:lstStyle/>
          <a:p>
            <a:pPr>
              <a:defRPr sz="3600" b="1">
                <a:solidFill>
                  <a:srgbClr val="0F172A"/>
                </a:solidFill>
                <a:latin typeface="Arial"/>
              </a:defRPr>
            </a:pPr>
            <a:r>
              <a:t>Moteur de Workflow Dynamique</a:t>
            </a:r>
          </a:p>
        </p:txBody>
      </p:sp>
      <p:sp>
        <p:nvSpPr>
          <p:cNvPr id="3" name="TextBox 2"/>
          <p:cNvSpPr txBox="1"/>
          <p:nvPr/>
        </p:nvSpPr>
        <p:spPr>
          <a:xfrm>
            <a:off x="10515600" y="6217920"/>
            <a:ext cx="1371600" cy="457200"/>
          </a:xfrm>
          <a:prstGeom prst="rect">
            <a:avLst/>
          </a:prstGeom>
          <a:noFill/>
        </p:spPr>
        <p:txBody>
          <a:bodyPr wrap="none">
            <a:spAutoFit/>
          </a:bodyPr>
          <a:lstStyle/>
          <a:p>
            <a:pPr algn="r">
              <a:defRPr sz="1100">
                <a:solidFill>
                  <a:srgbClr val="334155"/>
                </a:solidFill>
                <a:latin typeface="Arial"/>
              </a:defRPr>
            </a:pPr>
            <a:r>
              <a:t>12 / 17</a:t>
            </a:r>
          </a:p>
        </p:txBody>
      </p:sp>
      <p:sp>
        <p:nvSpPr>
          <p:cNvPr id="4" name="TextBox 3"/>
          <p:cNvSpPr txBox="1"/>
          <p:nvPr/>
        </p:nvSpPr>
        <p:spPr>
          <a:xfrm>
            <a:off x="685800" y="1645920"/>
            <a:ext cx="5486400" cy="4114800"/>
          </a:xfrm>
          <a:prstGeom prst="rect">
            <a:avLst/>
          </a:prstGeom>
          <a:noFill/>
        </p:spPr>
        <p:txBody>
          <a:bodyPr wrap="square">
            <a:spAutoFit/>
          </a:bodyPr>
          <a:lstStyle/>
          <a:p>
            <a:pPr>
              <a:defRPr b="1" sz="1800">
                <a:solidFill>
                  <a:srgbClr val="0D9488"/>
                </a:solidFill>
              </a:defRPr>
            </a:pPr>
            <a:r>
              <a:t>Flexibilité Sans Compilation</a:t>
            </a:r>
          </a:p>
          <a:p>
            <a:pPr>
              <a:spcBef>
                <a:spcPts val="800"/>
              </a:spcBef>
              <a:defRPr sz="1300">
                <a:solidFill>
                  <a:srgbClr val="0F172A"/>
                </a:solidFill>
              </a:defRPr>
            </a:pPr>
            <a:r>
              <a:t>• Remplacement des machines d'états figées (codées en dur) par un circuit modélisé en base de données.</a:t>
            </a:r>
          </a:p>
          <a:p>
            <a:pPr>
              <a:spcBef>
                <a:spcPts val="800"/>
              </a:spcBef>
              <a:defRPr sz="1300">
                <a:solidFill>
                  <a:srgbClr val="0F172A"/>
                </a:solidFill>
              </a:defRPr>
            </a:pPr>
            <a:r>
              <a:t>• Permet aux administrateurs de configurer ou modifier les circuits d'approbation (ex: ajouter un niveau de validation Chef Département) via l'interface.</a:t>
            </a:r>
          </a:p>
          <a:p>
            <a:pPr>
              <a:spcBef>
                <a:spcPts val="800"/>
              </a:spcBef>
              <a:defRPr sz="1300">
                <a:solidFill>
                  <a:srgbClr val="0F172A"/>
                </a:solidFill>
              </a:defRPr>
            </a:pPr>
            <a:r>
              <a:t>• Le cycle de vie d'une demande progresse automatiquement selon l'ordre défini (`current_etape_ordre`).</a:t>
            </a:r>
          </a:p>
          <a:p>
            <a:pPr>
              <a:spcBef>
                <a:spcPts val="800"/>
              </a:spcBef>
              <a:defRPr sz="1300">
                <a:solidFill>
                  <a:srgbClr val="0F172A"/>
                </a:solidFill>
              </a:defRPr>
            </a:pPr>
            <a:r>
              <a:t>• Routage hiérarchique strict : empêche techniquement le service RH de traiter une demande non validée préalablement par le manager direct.</a:t>
            </a:r>
          </a:p>
        </p:txBody>
      </p:sp>
      <p:sp>
        <p:nvSpPr>
          <p:cNvPr id="5" name="Rounded Rectangle 4"/>
          <p:cNvSpPr/>
          <p:nvPr/>
        </p:nvSpPr>
        <p:spPr>
          <a:xfrm>
            <a:off x="6583680" y="1645920"/>
            <a:ext cx="4846320" cy="411480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tIns="365760"/>
          <a:lstStyle/>
          <a:p>
            <a:pPr algn="ctr">
              <a:defRPr b="1" sz="1600">
                <a:solidFill>
                  <a:srgbClr val="10B981"/>
                </a:solidFill>
              </a:defRPr>
            </a:pPr>
            <a:r>
              <a:t>⚙️ Les Trois Phases Clés</a:t>
            </a:r>
          </a:p>
          <a:p>
            <a:pPr>
              <a:spcBef>
                <a:spcPts val="1200"/>
              </a:spcBef>
              <a:defRPr sz="1200">
                <a:solidFill>
                  <a:srgbClr val="FFFFFF"/>
                </a:solidFill>
              </a:defRPr>
            </a:pPr>
            <a:r>
              <a:t>1. Soumission : Validation JWT, contrôle des chevauchements de dates, affectation au circuit dynamique.</a:t>
            </a:r>
          </a:p>
          <a:p>
            <a:pPr>
              <a:spcBef>
                <a:spcPts val="1200"/>
              </a:spcBef>
              <a:defRPr sz="1200">
                <a:solidFill>
                  <a:srgbClr val="FFFFFF"/>
                </a:solidFill>
              </a:defRPr>
            </a:pPr>
            <a:r>
              <a:t>2. Validation Intermédiaire : Approbation par le manager de niveau N+1, incrémentation de l'étape.</a:t>
            </a:r>
          </a:p>
          <a:p>
            <a:pPr>
              <a:spcBef>
                <a:spcPts val="1200"/>
              </a:spcBef>
              <a:defRPr sz="1200">
                <a:solidFill>
                  <a:srgbClr val="FFFFFF"/>
                </a:solidFill>
              </a:defRPr>
            </a:pPr>
            <a:r>
              <a:t>3. Validation Finale : Approbation RH, transaction ACID de clôture, déduction du solde, et génération du titre de congé PDF.</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685800" y="457200"/>
            <a:ext cx="10817352" cy="914400"/>
          </a:xfrm>
          <a:prstGeom prst="rect">
            <a:avLst/>
          </a:prstGeom>
          <a:noFill/>
        </p:spPr>
        <p:txBody>
          <a:bodyPr wrap="square" lIns="0" tIns="0" rIns="0" bIns="0">
            <a:spAutoFit/>
          </a:bodyPr>
          <a:lstStyle/>
          <a:p>
            <a:pPr>
              <a:defRPr sz="3600" b="1">
                <a:solidFill>
                  <a:srgbClr val="0F172A"/>
                </a:solidFill>
                <a:latin typeface="Arial"/>
              </a:defRPr>
            </a:pPr>
            <a:r>
              <a:t>Bons de Sortie par QR Code Sécurisé</a:t>
            </a:r>
          </a:p>
        </p:txBody>
      </p:sp>
      <p:sp>
        <p:nvSpPr>
          <p:cNvPr id="3" name="TextBox 2"/>
          <p:cNvSpPr txBox="1"/>
          <p:nvPr/>
        </p:nvSpPr>
        <p:spPr>
          <a:xfrm>
            <a:off x="10515600" y="6217920"/>
            <a:ext cx="1371600" cy="457200"/>
          </a:xfrm>
          <a:prstGeom prst="rect">
            <a:avLst/>
          </a:prstGeom>
          <a:noFill/>
        </p:spPr>
        <p:txBody>
          <a:bodyPr wrap="none">
            <a:spAutoFit/>
          </a:bodyPr>
          <a:lstStyle/>
          <a:p>
            <a:pPr algn="r">
              <a:defRPr sz="1100">
                <a:solidFill>
                  <a:srgbClr val="334155"/>
                </a:solidFill>
                <a:latin typeface="Arial"/>
              </a:defRPr>
            </a:pPr>
            <a:r>
              <a:t>13 / 17</a:t>
            </a:r>
          </a:p>
        </p:txBody>
      </p:sp>
      <p:sp>
        <p:nvSpPr>
          <p:cNvPr id="4" name="TextBox 3"/>
          <p:cNvSpPr txBox="1"/>
          <p:nvPr/>
        </p:nvSpPr>
        <p:spPr>
          <a:xfrm>
            <a:off x="685800" y="1645920"/>
            <a:ext cx="5486400" cy="4114800"/>
          </a:xfrm>
          <a:prstGeom prst="rect">
            <a:avLst/>
          </a:prstGeom>
          <a:noFill/>
        </p:spPr>
        <p:txBody>
          <a:bodyPr wrap="square">
            <a:spAutoFit/>
          </a:bodyPr>
          <a:lstStyle/>
          <a:p>
            <a:pPr>
              <a:defRPr b="1" sz="1800">
                <a:solidFill>
                  <a:srgbClr val="0D9488"/>
                </a:solidFill>
              </a:defRPr>
            </a:pPr>
            <a:r>
              <a:t>Garantie Cryptographique HMAC</a:t>
            </a:r>
          </a:p>
          <a:p>
            <a:pPr>
              <a:spcBef>
                <a:spcPts val="1000"/>
              </a:spcBef>
              <a:defRPr sz="1300">
                <a:solidFill>
                  <a:srgbClr val="0F172A"/>
                </a:solidFill>
              </a:defRPr>
            </a:pPr>
            <a:r>
              <a:t>• Génération automatisée du bon de sortie en PDF (iTextPDF) après approbation hiérarchique.</a:t>
            </a:r>
          </a:p>
          <a:p>
            <a:pPr>
              <a:spcBef>
                <a:spcPts val="1000"/>
              </a:spcBef>
              <a:defRPr sz="1300">
                <a:solidFill>
                  <a:srgbClr val="0F172A"/>
                </a:solidFill>
              </a:defRPr>
            </a:pPr>
            <a:r>
              <a:t>• Le PDF incorpore un QR Code contenant un jeton d'autorisation scellé avec un condensat HMAC-256.</a:t>
            </a:r>
          </a:p>
          <a:p>
            <a:pPr>
              <a:spcBef>
                <a:spcPts val="1000"/>
              </a:spcBef>
              <a:defRPr sz="1300">
                <a:solidFill>
                  <a:srgbClr val="0F172A"/>
                </a:solidFill>
              </a:defRPr>
            </a:pPr>
            <a:r>
              <a:t>• La signature HMAC intègre l'identifiant de la requête, l'expéditeur, et les dates et heures de validité.</a:t>
            </a:r>
          </a:p>
          <a:p>
            <a:pPr>
              <a:spcBef>
                <a:spcPts val="1000"/>
              </a:spcBef>
              <a:defRPr sz="1300">
                <a:solidFill>
                  <a:srgbClr val="0F172A"/>
                </a:solidFill>
              </a:defRPr>
            </a:pPr>
            <a:r>
              <a:t>• Impossible de falsifier le bon papier : toute modification manuelle invalide la signature HMAC lors du scan.</a:t>
            </a:r>
          </a:p>
        </p:txBody>
      </p:sp>
      <p:sp>
        <p:nvSpPr>
          <p:cNvPr id="5" name="Rounded Rectangle 4"/>
          <p:cNvSpPr/>
          <p:nvPr/>
        </p:nvSpPr>
        <p:spPr>
          <a:xfrm>
            <a:off x="6583680" y="1645920"/>
            <a:ext cx="4846320" cy="411480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365760" tIns="365760"/>
          <a:lstStyle/>
          <a:p>
            <a:pPr algn="ctr">
              <a:defRPr b="1" sz="1600">
                <a:solidFill>
                  <a:srgbClr val="0F172A"/>
                </a:solidFill>
              </a:defRPr>
            </a:pPr>
            <a:r>
              <a:t>👮 Processus au Point d'Accès</a:t>
            </a:r>
          </a:p>
          <a:p>
            <a:pPr>
              <a:spcBef>
                <a:spcPts val="800"/>
              </a:spcBef>
              <a:defRPr sz="1300">
                <a:solidFill>
                  <a:srgbClr val="334155"/>
                </a:solidFill>
              </a:defRPr>
            </a:pPr>
            <a:r>
              <a:t>1. L'employé présente son QR Code sur mobile ou papier.</a:t>
            </a:r>
          </a:p>
          <a:p>
            <a:pPr>
              <a:spcBef>
                <a:spcPts val="800"/>
              </a:spcBef>
              <a:defRPr sz="1300">
                <a:solidFill>
                  <a:srgbClr val="334155"/>
                </a:solidFill>
              </a:defRPr>
            </a:pPr>
            <a:r>
              <a:t>2. L'agent de sécurité ouvre la PWA sur son mobile.</a:t>
            </a:r>
          </a:p>
          <a:p>
            <a:pPr>
              <a:spcBef>
                <a:spcPts val="800"/>
              </a:spcBef>
              <a:defRPr sz="1300">
                <a:solidFill>
                  <a:srgbClr val="334155"/>
                </a:solidFill>
              </a:defRPr>
            </a:pPr>
            <a:r>
              <a:t>3. Scan caméra instantané (sans contact).</a:t>
            </a:r>
          </a:p>
          <a:p>
            <a:pPr>
              <a:spcBef>
                <a:spcPts val="800"/>
              </a:spcBef>
              <a:defRPr sz="1300">
                <a:solidFill>
                  <a:srgbClr val="334155"/>
                </a:solidFill>
              </a:defRPr>
            </a:pPr>
            <a:r>
              <a:t>4. Le backend valide le HMAC en BDD, contrôle la plage horaire.</a:t>
            </a:r>
          </a:p>
          <a:p>
            <a:pPr>
              <a:spcBef>
                <a:spcPts val="800"/>
              </a:spcBef>
              <a:defRPr sz="1300">
                <a:solidFill>
                  <a:srgbClr val="334155"/>
                </a:solidFill>
              </a:defRPr>
            </a:pPr>
            <a:r>
              <a:t>5. Rendu couleur : VERT (Valide) ou ROUGE (Invalide/Expiré).</a:t>
            </a:r>
          </a:p>
          <a:p>
            <a:pPr>
              <a:spcBef>
                <a:spcPts val="800"/>
              </a:spcBef>
              <a:defRPr sz="1300">
                <a:solidFill>
                  <a:srgbClr val="334155"/>
                </a:solidFill>
              </a:defRPr>
            </a:pPr>
            <a:r>
              <a:t>6. Enregistrement automatique du passage d'entrée ou de sortie.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685800" y="457200"/>
            <a:ext cx="10817352" cy="914400"/>
          </a:xfrm>
          <a:prstGeom prst="rect">
            <a:avLst/>
          </a:prstGeom>
          <a:noFill/>
        </p:spPr>
        <p:txBody>
          <a:bodyPr wrap="square" lIns="0" tIns="0" rIns="0" bIns="0">
            <a:spAutoFit/>
          </a:bodyPr>
          <a:lstStyle/>
          <a:p>
            <a:pPr>
              <a:defRPr sz="3600" b="1">
                <a:solidFill>
                  <a:srgbClr val="0F172A"/>
                </a:solidFill>
                <a:latin typeface="Arial"/>
              </a:defRPr>
            </a:pPr>
            <a:r>
              <a:t>Espace Employé &amp; Pointage Mobile</a:t>
            </a:r>
          </a:p>
        </p:txBody>
      </p:sp>
      <p:sp>
        <p:nvSpPr>
          <p:cNvPr id="3" name="TextBox 2"/>
          <p:cNvSpPr txBox="1"/>
          <p:nvPr/>
        </p:nvSpPr>
        <p:spPr>
          <a:xfrm>
            <a:off x="10515600" y="6217920"/>
            <a:ext cx="1371600" cy="457200"/>
          </a:xfrm>
          <a:prstGeom prst="rect">
            <a:avLst/>
          </a:prstGeom>
          <a:noFill/>
        </p:spPr>
        <p:txBody>
          <a:bodyPr wrap="none">
            <a:spAutoFit/>
          </a:bodyPr>
          <a:lstStyle/>
          <a:p>
            <a:pPr algn="r">
              <a:defRPr sz="1100">
                <a:solidFill>
                  <a:srgbClr val="334155"/>
                </a:solidFill>
                <a:latin typeface="Arial"/>
              </a:defRPr>
            </a:pPr>
            <a:r>
              <a:t>14 / 17</a:t>
            </a:r>
          </a:p>
        </p:txBody>
      </p:sp>
      <p:sp>
        <p:nvSpPr>
          <p:cNvPr id="4" name="TextBox 3"/>
          <p:cNvSpPr txBox="1"/>
          <p:nvPr/>
        </p:nvSpPr>
        <p:spPr>
          <a:xfrm>
            <a:off x="685800" y="1645920"/>
            <a:ext cx="5486400" cy="4114800"/>
          </a:xfrm>
          <a:prstGeom prst="rect">
            <a:avLst/>
          </a:prstGeom>
          <a:noFill/>
        </p:spPr>
        <p:txBody>
          <a:bodyPr wrap="square">
            <a:spAutoFit/>
          </a:bodyPr>
          <a:lstStyle/>
          <a:p>
            <a:pPr>
              <a:defRPr b="1" sz="1800">
                <a:solidFill>
                  <a:srgbClr val="0D9488"/>
                </a:solidFill>
              </a:defRPr>
            </a:pPr>
            <a:r>
              <a:t>Autonomie et Transparence</a:t>
            </a:r>
          </a:p>
          <a:p>
            <a:pPr>
              <a:spcBef>
                <a:spcPts val="1000"/>
              </a:spcBef>
              <a:defRPr sz="1300">
                <a:solidFill>
                  <a:srgbClr val="0F172A"/>
                </a:solidFill>
              </a:defRPr>
            </a:pPr>
            <a:r>
              <a:t>• Tableau de bord ergonomique : Visualisation immédiate des soldes de congés restants (annuel, maladie, récupération).</a:t>
            </a:r>
          </a:p>
          <a:p>
            <a:pPr>
              <a:spcBef>
                <a:spcPts val="1000"/>
              </a:spcBef>
              <a:defRPr sz="1300">
                <a:solidFill>
                  <a:srgbClr val="0F172A"/>
                </a:solidFill>
              </a:defRPr>
            </a:pPr>
            <a:r>
              <a:t>• Soumission simplifiée des demandes (congés, régularisations, documents administratifs) avec chargement asynchrone de justificatifs.</a:t>
            </a:r>
          </a:p>
          <a:p>
            <a:pPr>
              <a:spcBef>
                <a:spcPts val="1000"/>
              </a:spcBef>
              <a:defRPr sz="1300">
                <a:solidFill>
                  <a:srgbClr val="0F172A"/>
                </a:solidFill>
              </a:defRPr>
            </a:pPr>
            <a:r>
              <a:t>• Téléchargement numérique direct des bulletins de paie et attestations de travail officielles.</a:t>
            </a:r>
          </a:p>
          <a:p>
            <a:pPr>
              <a:spcBef>
                <a:spcPts val="1000"/>
              </a:spcBef>
              <a:defRPr sz="1300">
                <a:solidFill>
                  <a:srgbClr val="0F172A"/>
                </a:solidFill>
              </a:defRPr>
            </a:pPr>
            <a:r>
              <a:t>• Module de pointage numérique journalier avec enregistrement automatique de la position géographique.</a:t>
            </a:r>
          </a:p>
        </p:txBody>
      </p:sp>
      <p:sp>
        <p:nvSpPr>
          <p:cNvPr id="5" name="Rounded Rectangle 4"/>
          <p:cNvSpPr/>
          <p:nvPr/>
        </p:nvSpPr>
        <p:spPr>
          <a:xfrm>
            <a:off x="6583680" y="1645920"/>
            <a:ext cx="4846320" cy="411480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tIns="365760"/>
          <a:lstStyle/>
          <a:p>
            <a:pPr algn="ctr">
              <a:defRPr b="1" sz="1800">
                <a:solidFill>
                  <a:srgbClr val="10B981"/>
                </a:solidFill>
              </a:defRPr>
            </a:pPr>
            <a:r>
              <a:t>📱 Expérience Mobile-First</a:t>
            </a:r>
          </a:p>
          <a:p>
            <a:pPr>
              <a:spcBef>
                <a:spcPts val="1500"/>
              </a:spcBef>
              <a:defRPr sz="1300">
                <a:solidFill>
                  <a:srgbClr val="FFFFFF"/>
                </a:solidFill>
              </a:defRPr>
            </a:pPr>
            <a:r>
              <a:t>L'intégralité du design a été développé selon une approche Mobile-First stricte sous Tailwind CSS. L'interface s'adapte de manière optimale sur tous types d'écrans (smartphones des magasiniers/chauffeurs, tablettes, ou grands moniteurs des services RH), éliminant toute barrière d'accès numérique pour le personnel opérationnel.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685800" y="457200"/>
            <a:ext cx="10817352" cy="914400"/>
          </a:xfrm>
          <a:prstGeom prst="rect">
            <a:avLst/>
          </a:prstGeom>
          <a:noFill/>
        </p:spPr>
        <p:txBody>
          <a:bodyPr wrap="square" lIns="0" tIns="0" rIns="0" bIns="0">
            <a:spAutoFit/>
          </a:bodyPr>
          <a:lstStyle/>
          <a:p>
            <a:pPr>
              <a:defRPr sz="3600" b="1">
                <a:solidFill>
                  <a:srgbClr val="0F172A"/>
                </a:solidFill>
                <a:latin typeface="Arial"/>
              </a:defRPr>
            </a:pPr>
            <a:r>
              <a:t>Aperçu des Interfaces Réalisées</a:t>
            </a:r>
          </a:p>
        </p:txBody>
      </p:sp>
      <p:sp>
        <p:nvSpPr>
          <p:cNvPr id="3" name="TextBox 2"/>
          <p:cNvSpPr txBox="1"/>
          <p:nvPr/>
        </p:nvSpPr>
        <p:spPr>
          <a:xfrm>
            <a:off x="10515600" y="6217920"/>
            <a:ext cx="1371600" cy="457200"/>
          </a:xfrm>
          <a:prstGeom prst="rect">
            <a:avLst/>
          </a:prstGeom>
          <a:noFill/>
        </p:spPr>
        <p:txBody>
          <a:bodyPr wrap="none">
            <a:spAutoFit/>
          </a:bodyPr>
          <a:lstStyle/>
          <a:p>
            <a:pPr algn="r">
              <a:defRPr sz="1100">
                <a:solidFill>
                  <a:srgbClr val="334155"/>
                </a:solidFill>
                <a:latin typeface="Arial"/>
              </a:defRPr>
            </a:pPr>
            <a:r>
              <a:t>15 / 17</a:t>
            </a:r>
          </a:p>
        </p:txBody>
      </p:sp>
      <p:sp>
        <p:nvSpPr>
          <p:cNvPr id="4" name="Rounded Rectangle 3"/>
          <p:cNvSpPr/>
          <p:nvPr/>
        </p:nvSpPr>
        <p:spPr>
          <a:xfrm>
            <a:off x="685800" y="1645920"/>
            <a:ext cx="5029200" cy="182880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a:lstStyle/>
          <a:p>
            <a:pPr algn="ctr">
              <a:defRPr b="1" sz="1400">
                <a:solidFill>
                  <a:srgbClr val="0D9488"/>
                </a:solidFill>
              </a:defRPr>
            </a:pPr>
            <a:r>
              <a:t>📱 Tableau de Bord Employé</a:t>
            </a:r>
          </a:p>
          <a:p>
            <a:pPr>
              <a:spcBef>
                <a:spcPts val="500"/>
              </a:spcBef>
              <a:defRPr sz="1100">
                <a:solidFill>
                  <a:srgbClr val="334155"/>
                </a:solidFill>
              </a:defRPr>
            </a:pPr>
            <a:r>
              <a:t>Visualisation synthétique de l'activité, widget de pointage en un clic, historique des demandes et widgets de solde.</a:t>
            </a:r>
          </a:p>
        </p:txBody>
      </p:sp>
      <p:sp>
        <p:nvSpPr>
          <p:cNvPr id="5" name="Rounded Rectangle 4"/>
          <p:cNvSpPr/>
          <p:nvPr/>
        </p:nvSpPr>
        <p:spPr>
          <a:xfrm>
            <a:off x="6400800" y="1645920"/>
            <a:ext cx="5029200" cy="182880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a:lstStyle/>
          <a:p>
            <a:pPr algn="ctr">
              <a:defRPr b="1" sz="1400">
                <a:solidFill>
                  <a:srgbClr val="0D9488"/>
                </a:solidFill>
              </a:defRPr>
            </a:pPr>
            <a:r>
              <a:t>📱 Espace de Validation Manager</a:t>
            </a:r>
          </a:p>
          <a:p>
            <a:pPr>
              <a:spcBef>
                <a:spcPts val="500"/>
              </a:spcBef>
              <a:defRPr sz="1100">
                <a:solidFill>
                  <a:srgbClr val="334155"/>
                </a:solidFill>
              </a:defRPr>
            </a:pPr>
            <a:r>
              <a:t>File d'attente des dossiers en suspens, vue d'ensemble du département, commentaires obligatoires et indicateur d'urgence.</a:t>
            </a:r>
          </a:p>
        </p:txBody>
      </p:sp>
      <p:sp>
        <p:nvSpPr>
          <p:cNvPr id="6" name="Rounded Rectangle 5"/>
          <p:cNvSpPr/>
          <p:nvPr/>
        </p:nvSpPr>
        <p:spPr>
          <a:xfrm>
            <a:off x="685800" y="3840480"/>
            <a:ext cx="5029200" cy="182880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a:lstStyle/>
          <a:p>
            <a:pPr algn="ctr">
              <a:defRPr b="1" sz="1400">
                <a:solidFill>
                  <a:srgbClr val="0D9488"/>
                </a:solidFill>
              </a:defRPr>
            </a:pPr>
            <a:r>
              <a:t>📱 Scan QR Code Agent Sécurité</a:t>
            </a:r>
          </a:p>
          <a:p>
            <a:pPr>
              <a:spcBef>
                <a:spcPts val="500"/>
              </a:spcBef>
              <a:defRPr sz="1100">
                <a:solidFill>
                  <a:srgbClr val="334155"/>
                </a:solidFill>
              </a:defRPr>
            </a:pPr>
            <a:r>
              <a:t>Interface minimaliste et ultra-rapide sur mobile avec accès direct à la caméra et affichage instantané du statut de validité.</a:t>
            </a:r>
          </a:p>
        </p:txBody>
      </p:sp>
      <p:sp>
        <p:nvSpPr>
          <p:cNvPr id="7" name="Rounded Rectangle 6"/>
          <p:cNvSpPr/>
          <p:nvPr/>
        </p:nvSpPr>
        <p:spPr>
          <a:xfrm>
            <a:off x="6400800" y="3840480"/>
            <a:ext cx="5029200" cy="182880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a:lstStyle/>
          <a:p>
            <a:pPr algn="ctr">
              <a:defRPr b="1" sz="1400">
                <a:solidFill>
                  <a:srgbClr val="0D9488"/>
                </a:solidFill>
              </a:defRPr>
            </a:pPr>
            <a:r>
              <a:t>📱 Console Super-Admin &amp; RH</a:t>
            </a:r>
          </a:p>
          <a:p>
            <a:pPr>
              <a:spcBef>
                <a:spcPts val="500"/>
              </a:spcBef>
              <a:defRPr sz="1100">
                <a:solidFill>
                  <a:srgbClr val="334155"/>
                </a:solidFill>
              </a:defRPr>
            </a:pPr>
            <a:r>
              <a:t>Configuration dynamique du moteur de workflow, gestion globale des rôles et consultation du registre d'audit complet.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685800" y="457200"/>
            <a:ext cx="10817352" cy="914400"/>
          </a:xfrm>
          <a:prstGeom prst="rect">
            <a:avLst/>
          </a:prstGeom>
          <a:noFill/>
        </p:spPr>
        <p:txBody>
          <a:bodyPr wrap="square" lIns="0" tIns="0" rIns="0" bIns="0">
            <a:spAutoFit/>
          </a:bodyPr>
          <a:lstStyle/>
          <a:p>
            <a:pPr>
              <a:defRPr sz="3600" b="1">
                <a:solidFill>
                  <a:srgbClr val="0F172A"/>
                </a:solidFill>
                <a:latin typeface="Arial"/>
              </a:defRPr>
            </a:pPr>
            <a:r>
              <a:t>Tests, Validation &amp; Performance</a:t>
            </a:r>
          </a:p>
        </p:txBody>
      </p:sp>
      <p:sp>
        <p:nvSpPr>
          <p:cNvPr id="3" name="TextBox 2"/>
          <p:cNvSpPr txBox="1"/>
          <p:nvPr/>
        </p:nvSpPr>
        <p:spPr>
          <a:xfrm>
            <a:off x="10515600" y="6217920"/>
            <a:ext cx="1371600" cy="457200"/>
          </a:xfrm>
          <a:prstGeom prst="rect">
            <a:avLst/>
          </a:prstGeom>
          <a:noFill/>
        </p:spPr>
        <p:txBody>
          <a:bodyPr wrap="none">
            <a:spAutoFit/>
          </a:bodyPr>
          <a:lstStyle/>
          <a:p>
            <a:pPr algn="r">
              <a:defRPr sz="1100">
                <a:solidFill>
                  <a:srgbClr val="334155"/>
                </a:solidFill>
                <a:latin typeface="Arial"/>
              </a:defRPr>
            </a:pPr>
            <a:r>
              <a:t>16 / 17</a:t>
            </a:r>
          </a:p>
        </p:txBody>
      </p:sp>
      <p:sp>
        <p:nvSpPr>
          <p:cNvPr id="4" name="TextBox 3"/>
          <p:cNvSpPr txBox="1"/>
          <p:nvPr/>
        </p:nvSpPr>
        <p:spPr>
          <a:xfrm>
            <a:off x="685800" y="1645920"/>
            <a:ext cx="5486400" cy="4114800"/>
          </a:xfrm>
          <a:prstGeom prst="rect">
            <a:avLst/>
          </a:prstGeom>
          <a:noFill/>
        </p:spPr>
        <p:txBody>
          <a:bodyPr wrap="square">
            <a:spAutoFit/>
          </a:bodyPr>
          <a:lstStyle/>
          <a:p>
            <a:pPr>
              <a:defRPr b="1" sz="1800">
                <a:solidFill>
                  <a:srgbClr val="0D9488"/>
                </a:solidFill>
              </a:defRPr>
            </a:pPr>
            <a:r>
              <a:t>Stratégie de Test Globale</a:t>
            </a:r>
          </a:p>
          <a:p>
            <a:pPr>
              <a:spcBef>
                <a:spcPts val="1000"/>
              </a:spcBef>
              <a:defRPr sz="1300">
                <a:solidFill>
                  <a:srgbClr val="0F172A"/>
                </a:solidFill>
              </a:defRPr>
            </a:pPr>
            <a:r>
              <a:t>• Tests Unitaires : Validation des services métier sensibles (calcul automatique des soldes de congés, chevauchement des dates) via JUnit 5 et Mockito.</a:t>
            </a:r>
          </a:p>
          <a:p>
            <a:pPr>
              <a:spcBef>
                <a:spcPts val="1000"/>
              </a:spcBef>
              <a:defRPr sz="1300">
                <a:solidFill>
                  <a:srgbClr val="0F172A"/>
                </a:solidFill>
              </a:defRPr>
            </a:pPr>
            <a:r>
              <a:t>• Tests d'Intégration : Validation de la conformité et sécurité des endpoints REST via Spring Boot Test et MockMvc.</a:t>
            </a:r>
          </a:p>
          <a:p>
            <a:pPr>
              <a:spcBef>
                <a:spcPts val="1000"/>
              </a:spcBef>
              <a:defRPr sz="1300">
                <a:solidFill>
                  <a:srgbClr val="0F172A"/>
                </a:solidFill>
              </a:defRPr>
            </a:pPr>
            <a:r>
              <a:t>• Tests Fonctionnels : Scénarios complets d'utilisation (soumission hors-ligne, synchronisation PWA, validation par scan de QR Code).</a:t>
            </a:r>
          </a:p>
        </p:txBody>
      </p:sp>
      <p:sp>
        <p:nvSpPr>
          <p:cNvPr id="5" name="Rounded Rectangle 4"/>
          <p:cNvSpPr/>
          <p:nvPr/>
        </p:nvSpPr>
        <p:spPr>
          <a:xfrm>
            <a:off x="6583680" y="1645920"/>
            <a:ext cx="4846320" cy="411480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tIns="365760"/>
          <a:lstStyle/>
          <a:p>
            <a:pPr algn="ctr">
              <a:defRPr b="1" sz="1800">
                <a:solidFill>
                  <a:srgbClr val="10B981"/>
                </a:solidFill>
              </a:defRPr>
            </a:pPr>
            <a:r>
              <a:t>⚡ Résultats Tests JMeter</a:t>
            </a:r>
          </a:p>
          <a:p>
            <a:pPr>
              <a:spcBef>
                <a:spcPts val="800"/>
              </a:spcBef>
              <a:defRPr sz="1200">
                <a:solidFill>
                  <a:srgbClr val="E2E8F0"/>
                </a:solidFill>
              </a:defRPr>
            </a:pPr>
            <a:r>
              <a:t>Des tests de charge poussés ont validé la capacité de l'application à absorber les pics d'utilisation sans ralentissement (seuil requis &lt; 2s) :</a:t>
            </a:r>
          </a:p>
          <a:p>
            <a:pPr>
              <a:spcBef>
                <a:spcPts val="1000"/>
              </a:spcBef>
              <a:defRPr b="1" sz="1300">
                <a:solidFill>
                  <a:srgbClr val="FFFFFF"/>
                </a:solidFill>
              </a:defRPr>
            </a:pPr>
            <a:r>
              <a:t>📊 GET /api/dashboard : 100 req/s | 340 ms</a:t>
            </a:r>
          </a:p>
          <a:p>
            <a:pPr>
              <a:spcBef>
                <a:spcPts val="1000"/>
              </a:spcBef>
              <a:defRPr b="1" sz="1300">
                <a:solidFill>
                  <a:srgbClr val="FFFFFF"/>
                </a:solidFill>
              </a:defRPr>
            </a:pPr>
            <a:r>
              <a:t>📊 POST /api/requests/leave : 50 req/s | 780 ms</a:t>
            </a:r>
          </a:p>
          <a:p>
            <a:pPr>
              <a:spcBef>
                <a:spcPts val="1000"/>
              </a:spcBef>
              <a:defRPr b="1" sz="1300">
                <a:solidFill>
                  <a:srgbClr val="FFFFFF"/>
                </a:solidFill>
              </a:defRPr>
            </a:pPr>
            <a:r>
              <a:t>📊 GET /api/requests/pending : 80 req/s | 520 ms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685800" y="457200"/>
            <a:ext cx="10817352" cy="914400"/>
          </a:xfrm>
          <a:prstGeom prst="rect">
            <a:avLst/>
          </a:prstGeom>
          <a:noFill/>
        </p:spPr>
        <p:txBody>
          <a:bodyPr wrap="square" lIns="0" tIns="0" rIns="0" bIns="0">
            <a:spAutoFit/>
          </a:bodyPr>
          <a:lstStyle/>
          <a:p>
            <a:pPr>
              <a:defRPr sz="3600" b="1">
                <a:solidFill>
                  <a:srgbClr val="FFFFFF"/>
                </a:solidFill>
                <a:latin typeface="Arial"/>
              </a:defRPr>
            </a:pPr>
            <a:r>
              <a:t>Conclusion &amp; Perspectives</a:t>
            </a:r>
          </a:p>
        </p:txBody>
      </p:sp>
      <p:sp>
        <p:nvSpPr>
          <p:cNvPr id="3" name="TextBox 2"/>
          <p:cNvSpPr txBox="1"/>
          <p:nvPr/>
        </p:nvSpPr>
        <p:spPr>
          <a:xfrm>
            <a:off x="685800" y="1645920"/>
            <a:ext cx="5303520" cy="4114800"/>
          </a:xfrm>
          <a:prstGeom prst="rect">
            <a:avLst/>
          </a:prstGeom>
          <a:noFill/>
        </p:spPr>
        <p:txBody>
          <a:bodyPr wrap="square">
            <a:spAutoFit/>
          </a:bodyPr>
          <a:lstStyle/>
          <a:p>
            <a:pPr>
              <a:defRPr b="1" sz="1800">
                <a:solidFill>
                  <a:srgbClr val="0D9488"/>
                </a:solidFill>
              </a:defRPr>
            </a:pPr>
            <a:r>
              <a:t>Résultats Majeurs du Projet</a:t>
            </a:r>
          </a:p>
          <a:p>
            <a:pPr>
              <a:spcBef>
                <a:spcPts val="1000"/>
              </a:spcBef>
              <a:defRPr sz="1300">
                <a:solidFill>
                  <a:srgbClr val="FFFFFF"/>
                </a:solidFill>
              </a:defRPr>
            </a:pPr>
            <a:r>
              <a:t>✓ Digitalisation réussie des workflows administratifs de Somepharm.</a:t>
            </a:r>
          </a:p>
          <a:p>
            <a:pPr>
              <a:spcBef>
                <a:spcPts val="1000"/>
              </a:spcBef>
              <a:defRPr sz="1300">
                <a:solidFill>
                  <a:srgbClr val="FFFFFF"/>
                </a:solidFill>
              </a:defRPr>
            </a:pPr>
            <a:r>
              <a:t>✓ Inclusion numérique complète du personnel de terrain grâce à la PWA Offline-First.</a:t>
            </a:r>
          </a:p>
          <a:p>
            <a:pPr>
              <a:spcBef>
                <a:spcPts val="1000"/>
              </a:spcBef>
              <a:defRPr sz="1300">
                <a:solidFill>
                  <a:srgbClr val="FFFFFF"/>
                </a:solidFill>
              </a:defRPr>
            </a:pPr>
            <a:r>
              <a:t>✓ Sécurisation absolue du contrôle physique d'accès par QR Code signé cryptographiquement.</a:t>
            </a:r>
          </a:p>
          <a:p>
            <a:pPr>
              <a:spcBef>
                <a:spcPts val="1000"/>
              </a:spcBef>
              <a:defRPr sz="1300">
                <a:solidFill>
                  <a:srgbClr val="FFFFFF"/>
                </a:solidFill>
              </a:defRPr>
            </a:pPr>
            <a:r>
              <a:t>✓ Traçabilité totale et immuabilité des registres légaux de présence et de congés.</a:t>
            </a:r>
          </a:p>
        </p:txBody>
      </p:sp>
      <p:sp>
        <p:nvSpPr>
          <p:cNvPr id="4" name="TextBox 3"/>
          <p:cNvSpPr txBox="1"/>
          <p:nvPr/>
        </p:nvSpPr>
        <p:spPr>
          <a:xfrm>
            <a:off x="6400800" y="1645920"/>
            <a:ext cx="5029200" cy="4114800"/>
          </a:xfrm>
          <a:prstGeom prst="rect">
            <a:avLst/>
          </a:prstGeom>
          <a:noFill/>
        </p:spPr>
        <p:txBody>
          <a:bodyPr wrap="square">
            <a:spAutoFit/>
          </a:bodyPr>
          <a:lstStyle/>
          <a:p>
            <a:pPr>
              <a:defRPr b="1" sz="1800">
                <a:solidFill>
                  <a:srgbClr val="10B981"/>
                </a:solidFill>
              </a:defRPr>
            </a:pPr>
            <a:r>
              <a:t>Perspectives Futures</a:t>
            </a:r>
          </a:p>
          <a:p>
            <a:pPr>
              <a:spcBef>
                <a:spcPts val="1000"/>
              </a:spcBef>
              <a:defRPr sz="1300">
                <a:solidFill>
                  <a:srgbClr val="E2E8F0"/>
                </a:solidFill>
              </a:defRPr>
            </a:pPr>
            <a:r>
              <a:t>→ Intégration d'un module de paie numérique complet directement au sein du portail.</a:t>
            </a:r>
          </a:p>
          <a:p>
            <a:pPr>
              <a:spcBef>
                <a:spcPts val="1000"/>
              </a:spcBef>
              <a:defRPr sz="1300">
                <a:solidFill>
                  <a:srgbClr val="E2E8F0"/>
                </a:solidFill>
              </a:defRPr>
            </a:pPr>
            <a:r>
              <a:t>→ Module décisionnel avancé d'analyse prédictive de l'absentéisme en entrepôt.</a:t>
            </a:r>
          </a:p>
          <a:p>
            <a:pPr>
              <a:spcBef>
                <a:spcPts val="1000"/>
              </a:spcBef>
              <a:defRPr sz="1300">
                <a:solidFill>
                  <a:srgbClr val="E2E8F0"/>
                </a:solidFill>
              </a:defRPr>
            </a:pPr>
            <a:r>
              <a:t>→ Déploiement et extension du portail à d'autres filiales du groupe Somepharm.</a:t>
            </a:r>
          </a:p>
          <a:p>
            <a:pPr>
              <a:spcBef>
                <a:spcPts val="1000"/>
              </a:spcBef>
              <a:defRPr sz="1300">
                <a:solidFill>
                  <a:srgbClr val="E2E8F0"/>
                </a:solidFill>
              </a:defRPr>
            </a:pPr>
            <a:r>
              <a:t>→ Notifications push mobiles et SMS en temps réel.</a:t>
            </a:r>
          </a:p>
          <a:p>
            <a:pPr>
              <a:spcBef>
                <a:spcPts val="3000"/>
              </a:spcBef>
              <a:defRPr b="1" sz="1600">
                <a:solidFill>
                  <a:srgbClr val="FFFFFF"/>
                </a:solidFill>
              </a:defRPr>
            </a:pPr>
            <a:r>
              <a:t>Merci pour votre attention !</a:t>
            </a:r>
          </a:p>
        </p:txBody>
      </p:sp>
      <p:sp>
        <p:nvSpPr>
          <p:cNvPr id="5" name="TextBox 4"/>
          <p:cNvSpPr txBox="1"/>
          <p:nvPr/>
        </p:nvSpPr>
        <p:spPr>
          <a:xfrm>
            <a:off x="10515600" y="6217920"/>
            <a:ext cx="1371600" cy="457200"/>
          </a:xfrm>
          <a:prstGeom prst="rect">
            <a:avLst/>
          </a:prstGeom>
          <a:noFill/>
        </p:spPr>
        <p:txBody>
          <a:bodyPr wrap="none">
            <a:spAutoFit/>
          </a:bodyPr>
          <a:lstStyle/>
          <a:p>
            <a:pPr algn="r">
              <a:defRPr sz="1100">
                <a:solidFill>
                  <a:srgbClr val="E2E8F0"/>
                </a:solidFill>
                <a:latin typeface="Arial"/>
              </a:defRPr>
            </a:pPr>
            <a:r>
              <a:t>17 / 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