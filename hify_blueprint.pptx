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4" r:id="rId2"/>
    <p:sldId id="257" r:id="rId3"/>
    <p:sldId id="259" r:id="rId4"/>
    <p:sldId id="258" r:id="rId5"/>
    <p:sldId id="260" r:id="rId6"/>
    <p:sldId id="261" r:id="rId7"/>
    <p:sldId id="273" r:id="rId8"/>
    <p:sldId id="262" r:id="rId9"/>
    <p:sldId id="263" r:id="rId10"/>
    <p:sldId id="264" r:id="rId11"/>
    <p:sldId id="275" r:id="rId12"/>
    <p:sldId id="266" r:id="rId13"/>
    <p:sldId id="265" r:id="rId14"/>
    <p:sldId id="267" r:id="rId15"/>
    <p:sldId id="268" r:id="rId16"/>
    <p:sldId id="269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6536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715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36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87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0" y="3657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Conception et Réalisation d'un Système</a:t>
            </a:r>
            <a:endParaRPr lang="en-US" sz="2600" dirty="0">
              <a:solidFill>
                <a:schemeClr val="tx1"/>
              </a:solidFill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d'Information de Gestion des Formations</a:t>
            </a:r>
            <a:endParaRPr lang="en-US" sz="2600" dirty="0">
              <a:solidFill>
                <a:schemeClr val="tx1"/>
              </a:solidFill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 des Qualifications du Personnel ATE</a:t>
            </a:r>
            <a:endParaRPr lang="en-US" sz="2600" dirty="0">
              <a:solidFill>
                <a:schemeClr val="tx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0" y="2971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Belhadj Yacine Otmane  ·  Toumi Islem Fateh  ·  Mehenni Youcef Islam  ·  Fares Ahcene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Dr. LAACHEMI Abdelouahab (USTHB) — HADDOUCHE Badreddine (Air Algérie)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Projet N°66 ISIL — Licence en Informatique — USTHB 2025–2026</a:t>
            </a:r>
            <a:endParaRPr lang="en-US" sz="900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101" y="256032"/>
            <a:ext cx="1088699" cy="1088699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30" y="419199"/>
            <a:ext cx="859619" cy="807521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184" y="2926080"/>
            <a:ext cx="981631" cy="98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54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1"/>
    </mc:Choice>
    <mc:Fallback xmlns="">
      <p:transition spd="slow" advTm="123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3716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 du Projet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opérationnel : coordination vols + gestion technique au sol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sous-directions opérationnelles sous la DOA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ATE : agents qualifiés dispatch, habilitations EASA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</a:t>
            </a:r>
            <a:r>
              <a:rPr lang="en-US" sz="1200" dirty="0" smtClean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sols 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administratifs et techniques (formations ponctuelles)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mission : conformité réglementaire + développement des compétences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914400"/>
            <a:ext cx="3657600" cy="2926080"/>
          </a:xfrm>
          <a:prstGeom prst="rect">
            <a:avLst/>
          </a:prstGeom>
          <a:solidFill>
            <a:srgbClr val="F4F6F9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029200" y="9144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[Organigramme simplifié DOA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1.2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Gestion des Formations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ses deux branches 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Formations Récurrentes 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Formations Personnel au Sol]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4114800"/>
            <a:ext cx="3840480" cy="640080"/>
          </a:xfrm>
          <a:prstGeom prst="rect">
            <a:avLst/>
          </a:prstGeom>
          <a:solidFill>
            <a:srgbClr val="FEF2F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42062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49240" y="4114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</a:t>
            </a: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smtClean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Conformité ATE (25 modules EASA, cycles triennaux)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19310" y="4114800"/>
            <a:ext cx="3931920" cy="640080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70" y="42062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22230" y="4114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</a:t>
            </a: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smtClean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Formations ponctuelles (budget, plan annuel, reliquats)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3716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Problème</a:t>
            </a:r>
            <a:r>
              <a:rPr lang="en-US" sz="2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600" b="1" dirty="0" smtClean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</a:t>
            </a:r>
            <a:r>
              <a:rPr lang="en-US" sz="2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Gestion des Formations Ponctuelles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 actuel en 6 étapes — entièrement manuel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74320" cy="27432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 des besoins par sous-direction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274320" cy="27432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budgétaire (profil × durée × barèmes)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274320" cy="27432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SDRH vs estimation SD → recalcul si écart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274320" cy="27432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2880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manuelle sur tableurs Excel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274320" cy="27432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: compilation manuelle des sources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274320" cy="27432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3886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 : reliquats = budget notifié − réalisé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914400"/>
            <a:ext cx="3657600" cy="3840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1051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Conséquences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12080" y="1508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Opacité budgétaire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visibilité sur les reliquats avant la clôture annuelle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0" y="2103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Perte d'enveloppe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non consommés → direction déduit l'excédent de l'année suivante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0" y="2697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Erreurs de calcul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manuelle des coûts par profil budgétaire (mission, transport, nuitées)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12080" y="3291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 de traçabilité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communes vs spécifiques, internes vs externes mélangées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12080" y="3886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Duplication bloquée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1208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« non-ATE ne refait pas une formation » invérifiable manuellement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: Comment automatiser le suivi des compétences et optimiser l'arbitrage budgétaire dans une gestion décentralisée ?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3716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Problème</a:t>
            </a:r>
            <a:r>
              <a:rPr lang="en-US" sz="28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800" b="1" dirty="0" smtClean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</a:t>
            </a:r>
            <a:r>
              <a:rPr lang="en-US" sz="28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Suivi des Qualifications ATE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560320" cy="118872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51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EASA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agent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005840"/>
            <a:ext cx="2560320" cy="118872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051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ans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validité propre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module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560320" cy="118872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051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Asynchrone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module 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propre cycle</a:t>
            </a:r>
            <a:endParaRPr lang="en-US" sz="10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6012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Aucune alerte automatique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6012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avec habilitations expirées déployés sans détection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0896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6012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Contraintes manuelles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6012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 6 participants + plafonds formateurs (6h/j, 40h/m) vérifiés de mémoire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490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6012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Suivi individuel impossible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96012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× N agents = parcours asynchrones ingérables sous Excel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303520" y="2423160"/>
            <a:ext cx="3383280" cy="1920240"/>
          </a:xfrm>
          <a:prstGeom prst="rect">
            <a:avLst/>
          </a:prstGeom>
          <a:solidFill>
            <a:srgbClr val="F4F6F9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25" name="Text 20"/>
          <p:cNvSpPr/>
          <p:nvPr/>
        </p:nvSpPr>
        <p:spPr>
          <a:xfrm>
            <a:off x="5303520" y="242316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[Schéma cycles asynchrones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X : Module 7 → 30j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18 → 800j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→ expiré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l'ingérabilité manuelle]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7" name="Text 22"/>
          <p:cNvSpPr/>
          <p:nvPr/>
        </p:nvSpPr>
        <p:spPr>
          <a:xfrm>
            <a:off x="731520" y="45262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critique : un agent non conforme déployé = violation réglementaire EASA + sanction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3716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Proposée : HIFY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141732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Centraliser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88720" y="1600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unique : personnel, formateurs, catalogue ponctuelles + récurrentes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3931920" cy="141732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80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Conformité ATE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86400" y="1600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granulaire 25 modules, code couleur, calcul échéances triennales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743200"/>
            <a:ext cx="3931920" cy="141732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718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Pilotage budgétaire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188720" y="3291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auto, arbitrage notifié vs théorique, traçabilité reliquats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2743200"/>
            <a:ext cx="3931920" cy="141732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9718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hybride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5486400" y="3291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(Admin CRUD) + Web LAN (Consultation lecture seule JWT)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Modules : Administration  ·  Planification  ·  Pilotage  ·  Consultation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3716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Double-Listener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5303520" cy="3474720"/>
          </a:xfrm>
          <a:prstGeom prst="rect">
            <a:avLst/>
          </a:prstGeom>
          <a:solidFill>
            <a:srgbClr val="F4F6F9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5303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[Diagramme d'architecture — Figure 3.1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 (Admin Tauri) → localhost:3001 → Full CRUD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PC1/PC2 (Navigateur) → LAN:3000 → Read-only + JWT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Noyau Rust (Axum + Tokio + SQLx) → SQLite hify.db]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2560320" cy="1554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0" y="1005840"/>
            <a:ext cx="73152" cy="1554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Serveur Admin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complet, sans auth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(machine de confiance)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834640"/>
            <a:ext cx="2560320" cy="1554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2834640"/>
            <a:ext cx="73152" cy="15544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Serveur Public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3375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LAN:3000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seule, JWT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(réseau local)</a:t>
            </a:r>
            <a:endParaRPr lang="en-US" sz="1100" dirty="0"/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987006"/>
            <a:ext cx="5303520" cy="35291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3716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Double-Listener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5303520" cy="3474720"/>
          </a:xfrm>
          <a:prstGeom prst="rect">
            <a:avLst/>
          </a:prstGeom>
          <a:solidFill>
            <a:srgbClr val="F4F6F9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5303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[Diagramme d'architecture — Figure 3.1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 (Admin Tauri) → localhost:3001 → Full CRUD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PC1/PC2 (Navigateur) → LAN:3000 → Read-only + JWT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Noyau Rust (Axum + Tokio + SQLx) → SQLite hify.db]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2560320" cy="1554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0" y="1005840"/>
            <a:ext cx="73152" cy="1554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Serveur Admin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complet, sans auth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(machine de confiance)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834640"/>
            <a:ext cx="2560320" cy="1554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2834640"/>
            <a:ext cx="73152" cy="15544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Serveur Public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3375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LAN:3000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seule, JWT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(réseau local)</a:t>
            </a:r>
            <a:endParaRPr lang="en-US" sz="1100" dirty="0"/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987006"/>
            <a:ext cx="5303520" cy="3529163"/>
          </a:xfrm>
          <a:prstGeom prst="rect">
            <a:avLst/>
          </a:prstGeom>
        </p:spPr>
      </p:pic>
      <p:pic>
        <p:nvPicPr>
          <p:cNvPr id="17" name="A_technical_network_diagram_sh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6"/>
          <a:srcRect l="7834" t="-17966" r="7834" b="-2"/>
          <a:stretch/>
        </p:blipFill>
        <p:spPr>
          <a:xfrm>
            <a:off x="548640" y="328016"/>
            <a:ext cx="5303520" cy="417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57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3716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 de Défaillance Unique (SPOF)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1828800"/>
          </a:xfrm>
          <a:prstGeom prst="rect">
            <a:avLst/>
          </a:prstGeom>
          <a:solidFill>
            <a:srgbClr val="FEF2F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430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Contrainte réelle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1645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infrastructure serveur dédiée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sur poste unique (PC0)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délibéré, pas un oubli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0FDF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1430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37760" y="1645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Export/Import JSON intégré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rapide sur un autre poste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complète du référentiel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3108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car :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opérationnelles (formations, budgets), pas transactionnelles temps réel. Interruption de quelques heures tolérable.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3716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Choix Technologiques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2057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011680"/>
                <a:gridCol w="2194560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/ Spring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 + XAMPP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 + Tauri (Hify)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Mémoire (RAM)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200–400 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200–400 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5–15 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Démarrage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2–8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JDK obligatoire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Binaire unique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 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291840"/>
            <a:ext cx="8046720" cy="1463040"/>
          </a:xfrm>
          <a:prstGeom prst="rect">
            <a:avLst/>
          </a:prstGeom>
          <a:solidFill>
            <a:srgbClr val="F4F6F9"/>
          </a:solidFill>
          <a:ln w="19050">
            <a:solidFill>
              <a:schemeClr val="bg1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548640" y="32918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393" y="3661813"/>
            <a:ext cx="621164" cy="621164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75" y="3546472"/>
            <a:ext cx="851847" cy="851847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026" y="3464240"/>
            <a:ext cx="1145025" cy="101631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3076428" y="3686067"/>
            <a:ext cx="12859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C131"/>
                </a:solidFill>
              </a:rPr>
              <a:t>A</a:t>
            </a:r>
            <a:r>
              <a:rPr lang="fr-FR" sz="3200" b="1" dirty="0" smtClean="0">
                <a:solidFill>
                  <a:srgbClr val="0070C0"/>
                </a:solidFill>
              </a:rPr>
              <a:t>X</a:t>
            </a:r>
            <a:r>
              <a:rPr lang="fr-FR" sz="3200" b="1" dirty="0" smtClean="0">
                <a:solidFill>
                  <a:srgbClr val="FFC131"/>
                </a:solidFill>
              </a:rPr>
              <a:t>UM</a:t>
            </a:r>
            <a:endParaRPr lang="fr-FR" b="1" dirty="0">
              <a:solidFill>
                <a:srgbClr val="FFC131"/>
              </a:solidFill>
            </a:endParaRPr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228" y="3650434"/>
            <a:ext cx="643927" cy="643927"/>
          </a:xfrm>
          <a:prstGeom prst="rect">
            <a:avLst/>
          </a:prstGeom>
        </p:spPr>
      </p:pic>
      <p:sp>
        <p:nvSpPr>
          <p:cNvPr id="17" name="ZoneTexte 16"/>
          <p:cNvSpPr txBox="1"/>
          <p:nvPr/>
        </p:nvSpPr>
        <p:spPr>
          <a:xfrm>
            <a:off x="7299922" y="3730973"/>
            <a:ext cx="10230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 smtClean="0"/>
              <a:t>SQL</a:t>
            </a:r>
            <a:r>
              <a:rPr lang="fr-FR" sz="3200" b="1" dirty="0" err="1" smtClean="0">
                <a:solidFill>
                  <a:srgbClr val="FF0000"/>
                </a:solidFill>
              </a:rPr>
              <a:t>x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3716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Modèle de Données (MCD)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 smtClean="0"/>
          </a:p>
          <a:p>
            <a:pPr marL="0" indent="0" algn="ctr">
              <a:buNone/>
            </a:pPr>
            <a:endParaRPr lang="en-US" sz="1100" dirty="0" smtClean="0"/>
          </a:p>
        </p:txBody>
      </p:sp>
      <p:sp>
        <p:nvSpPr>
          <p:cNvPr id="23" name="Rectangle 22"/>
          <p:cNvSpPr/>
          <p:nvPr/>
        </p:nvSpPr>
        <p:spPr>
          <a:xfrm>
            <a:off x="124951" y="2542808"/>
            <a:ext cx="1193896" cy="313138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Formateur</a:t>
            </a:r>
            <a:endParaRPr lang="fr-FR" dirty="0"/>
          </a:p>
        </p:txBody>
      </p:sp>
      <p:sp>
        <p:nvSpPr>
          <p:cNvPr id="28" name="Rectangle 27"/>
          <p:cNvSpPr/>
          <p:nvPr/>
        </p:nvSpPr>
        <p:spPr>
          <a:xfrm>
            <a:off x="1629396" y="1204075"/>
            <a:ext cx="1305464" cy="313138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Module ATE</a:t>
            </a:r>
            <a:endParaRPr lang="fr-FR" dirty="0"/>
          </a:p>
        </p:txBody>
      </p:sp>
      <p:sp>
        <p:nvSpPr>
          <p:cNvPr id="29" name="Rectangle 28"/>
          <p:cNvSpPr/>
          <p:nvPr/>
        </p:nvSpPr>
        <p:spPr>
          <a:xfrm>
            <a:off x="1834129" y="3765604"/>
            <a:ext cx="895997" cy="313138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Session</a:t>
            </a:r>
            <a:endParaRPr lang="fr-FR" dirty="0"/>
          </a:p>
        </p:txBody>
      </p:sp>
      <p:sp>
        <p:nvSpPr>
          <p:cNvPr id="31" name="Rectangle 30"/>
          <p:cNvSpPr/>
          <p:nvPr/>
        </p:nvSpPr>
        <p:spPr>
          <a:xfrm>
            <a:off x="3116734" y="3765604"/>
            <a:ext cx="1773592" cy="3131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Profil Budgétaire</a:t>
            </a:r>
            <a:endParaRPr lang="fr-FR" dirty="0"/>
          </a:p>
        </p:txBody>
      </p:sp>
      <p:sp>
        <p:nvSpPr>
          <p:cNvPr id="32" name="Rectangle 31"/>
          <p:cNvSpPr/>
          <p:nvPr/>
        </p:nvSpPr>
        <p:spPr>
          <a:xfrm>
            <a:off x="3450061" y="2532755"/>
            <a:ext cx="1106937" cy="3131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Personnel</a:t>
            </a:r>
            <a:endParaRPr lang="fr-FR" dirty="0"/>
          </a:p>
        </p:txBody>
      </p:sp>
      <p:sp>
        <p:nvSpPr>
          <p:cNvPr id="33" name="Rectangle 32"/>
          <p:cNvSpPr/>
          <p:nvPr/>
        </p:nvSpPr>
        <p:spPr>
          <a:xfrm>
            <a:off x="5406975" y="1204075"/>
            <a:ext cx="1669211" cy="3131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Sous Direction</a:t>
            </a:r>
            <a:endParaRPr lang="fr-FR" dirty="0"/>
          </a:p>
        </p:txBody>
      </p:sp>
      <p:sp>
        <p:nvSpPr>
          <p:cNvPr id="34" name="Rectangle 33"/>
          <p:cNvSpPr/>
          <p:nvPr/>
        </p:nvSpPr>
        <p:spPr>
          <a:xfrm>
            <a:off x="5643339" y="3765604"/>
            <a:ext cx="1196483" cy="3131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Formation</a:t>
            </a:r>
            <a:endParaRPr lang="fr-FR" dirty="0"/>
          </a:p>
        </p:txBody>
      </p:sp>
      <p:sp>
        <p:nvSpPr>
          <p:cNvPr id="35" name="Ellipse 34"/>
          <p:cNvSpPr/>
          <p:nvPr/>
        </p:nvSpPr>
        <p:spPr>
          <a:xfrm>
            <a:off x="6315401" y="2528440"/>
            <a:ext cx="1319842" cy="3217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Affecter</a:t>
            </a:r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8159663" y="2532755"/>
            <a:ext cx="898298" cy="3131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Année</a:t>
            </a:r>
            <a:endParaRPr lang="fr-FR" dirty="0"/>
          </a:p>
        </p:txBody>
      </p:sp>
      <p:cxnSp>
        <p:nvCxnSpPr>
          <p:cNvPr id="52" name="Connecteur droit 51"/>
          <p:cNvCxnSpPr>
            <a:stCxn id="23" idx="3"/>
            <a:endCxn id="28" idx="1"/>
          </p:cNvCxnSpPr>
          <p:nvPr/>
        </p:nvCxnSpPr>
        <p:spPr>
          <a:xfrm flipV="1">
            <a:off x="1318847" y="1360644"/>
            <a:ext cx="310549" cy="1338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>
            <a:stCxn id="23" idx="3"/>
            <a:endCxn id="29" idx="1"/>
          </p:cNvCxnSpPr>
          <p:nvPr/>
        </p:nvCxnSpPr>
        <p:spPr>
          <a:xfrm>
            <a:off x="1318847" y="2699377"/>
            <a:ext cx="515282" cy="12227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>
            <a:stCxn id="28" idx="2"/>
            <a:endCxn id="29" idx="0"/>
          </p:cNvCxnSpPr>
          <p:nvPr/>
        </p:nvCxnSpPr>
        <p:spPr>
          <a:xfrm>
            <a:off x="2282128" y="1517213"/>
            <a:ext cx="0" cy="2248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>
            <a:stCxn id="28" idx="3"/>
            <a:endCxn id="32" idx="1"/>
          </p:cNvCxnSpPr>
          <p:nvPr/>
        </p:nvCxnSpPr>
        <p:spPr>
          <a:xfrm>
            <a:off x="2934860" y="1360644"/>
            <a:ext cx="515201" cy="1328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/>
          <p:cNvCxnSpPr>
            <a:stCxn id="32" idx="2"/>
            <a:endCxn id="31" idx="0"/>
          </p:cNvCxnSpPr>
          <p:nvPr/>
        </p:nvCxnSpPr>
        <p:spPr>
          <a:xfrm>
            <a:off x="4003530" y="2845893"/>
            <a:ext cx="0" cy="9197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>
            <a:stCxn id="32" idx="3"/>
            <a:endCxn id="33" idx="1"/>
          </p:cNvCxnSpPr>
          <p:nvPr/>
        </p:nvCxnSpPr>
        <p:spPr>
          <a:xfrm flipV="1">
            <a:off x="4556998" y="1360644"/>
            <a:ext cx="849977" cy="1328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>
            <a:stCxn id="32" idx="3"/>
            <a:endCxn id="34" idx="1"/>
          </p:cNvCxnSpPr>
          <p:nvPr/>
        </p:nvCxnSpPr>
        <p:spPr>
          <a:xfrm>
            <a:off x="4556998" y="2689324"/>
            <a:ext cx="1086341" cy="1232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/>
          <p:cNvCxnSpPr>
            <a:stCxn id="35" idx="6"/>
            <a:endCxn id="36" idx="1"/>
          </p:cNvCxnSpPr>
          <p:nvPr/>
        </p:nvCxnSpPr>
        <p:spPr>
          <a:xfrm>
            <a:off x="7635243" y="2689324"/>
            <a:ext cx="5244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/>
          <p:cNvCxnSpPr>
            <a:stCxn id="33" idx="2"/>
          </p:cNvCxnSpPr>
          <p:nvPr/>
        </p:nvCxnSpPr>
        <p:spPr>
          <a:xfrm flipH="1">
            <a:off x="6241580" y="1517213"/>
            <a:ext cx="1" cy="2404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90"/>
          <p:cNvCxnSpPr>
            <a:stCxn id="33" idx="2"/>
            <a:endCxn id="35" idx="0"/>
          </p:cNvCxnSpPr>
          <p:nvPr/>
        </p:nvCxnSpPr>
        <p:spPr>
          <a:xfrm>
            <a:off x="6241581" y="1517213"/>
            <a:ext cx="733741" cy="1011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/>
          <p:cNvCxnSpPr>
            <a:stCxn id="34" idx="0"/>
            <a:endCxn id="35" idx="4"/>
          </p:cNvCxnSpPr>
          <p:nvPr/>
        </p:nvCxnSpPr>
        <p:spPr>
          <a:xfrm flipV="1">
            <a:off x="6241581" y="2850207"/>
            <a:ext cx="733741" cy="9153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>
            <a:stCxn id="32" idx="1"/>
            <a:endCxn id="29" idx="3"/>
          </p:cNvCxnSpPr>
          <p:nvPr/>
        </p:nvCxnSpPr>
        <p:spPr>
          <a:xfrm flipH="1">
            <a:off x="2730126" y="2689324"/>
            <a:ext cx="719935" cy="1232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3716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65760"/>
            <a:ext cx="25726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Patrons</a:t>
            </a: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SGBD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91600" y="1986077"/>
            <a:ext cx="3623546" cy="7315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0" name="Text 8"/>
          <p:cNvSpPr/>
          <p:nvPr/>
        </p:nvSpPr>
        <p:spPr>
          <a:xfrm>
            <a:off x="828761" y="2031797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FF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3FN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28760" y="2333549"/>
            <a:ext cx="34032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Profils budgétaires découplés → calcul auto par grade</a:t>
            </a:r>
            <a:endParaRPr lang="en-US" sz="1200" b="1" dirty="0"/>
          </a:p>
        </p:txBody>
      </p:sp>
      <p:sp>
        <p:nvSpPr>
          <p:cNvPr id="12" name="Shape 10"/>
          <p:cNvSpPr/>
          <p:nvPr/>
        </p:nvSpPr>
        <p:spPr>
          <a:xfrm>
            <a:off x="4818730" y="1986077"/>
            <a:ext cx="3623546" cy="7315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4955890" y="2031797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55889" y="2333549"/>
            <a:ext cx="29923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Formateurs internes/externes en table unique</a:t>
            </a:r>
            <a:endParaRPr lang="en-US" sz="1200" b="1" dirty="0"/>
          </a:p>
        </p:txBody>
      </p:sp>
      <p:sp>
        <p:nvSpPr>
          <p:cNvPr id="15" name="Shape 13"/>
          <p:cNvSpPr/>
          <p:nvPr/>
        </p:nvSpPr>
        <p:spPr>
          <a:xfrm>
            <a:off x="691600" y="3213087"/>
            <a:ext cx="3623546" cy="7315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6" name="Text 14"/>
          <p:cNvSpPr/>
          <p:nvPr/>
        </p:nvSpPr>
        <p:spPr>
          <a:xfrm>
            <a:off x="828761" y="3258807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 Deletes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8761" y="3560559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is_active pour audit réglementaire</a:t>
            </a:r>
            <a:endParaRPr lang="en-US" sz="1100" b="1" dirty="0"/>
          </a:p>
        </p:txBody>
      </p:sp>
      <p:sp>
        <p:nvSpPr>
          <p:cNvPr id="18" name="Shape 16"/>
          <p:cNvSpPr/>
          <p:nvPr/>
        </p:nvSpPr>
        <p:spPr>
          <a:xfrm>
            <a:off x="4818730" y="3213087"/>
            <a:ext cx="3623546" cy="7315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4955890" y="3258807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AFFECTER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55890" y="3560559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Ternaire : département × formation × année → budget par exercice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59884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3716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Moteur Budgétaire &amp; Formations Ponctuelles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8046720" cy="5943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9144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 Théorique = Σ [ Quotas par grade × Durée × Barèmes (mission + transport + nuitées) 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2606040" cy="1920240"/>
          </a:xfrm>
          <a:prstGeom prst="rect">
            <a:avLst/>
          </a:prstGeom>
          <a:solidFill>
            <a:srgbClr val="F4F6F9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54480" y="1783080"/>
            <a:ext cx="457200" cy="45720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formation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catalogue → affectation aux sous-directions → configuration quotas par grade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1691640"/>
            <a:ext cx="2606040" cy="1920240"/>
          </a:xfrm>
          <a:prstGeom prst="rect">
            <a:avLst/>
          </a:prstGeom>
          <a:solidFill>
            <a:srgbClr val="F4F6F9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17830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Arbitrage budgétaire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2697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théorique auto vs budget notifié SD → confrontation immédiate → détection écarts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1691640"/>
            <a:ext cx="2606040" cy="1920240"/>
          </a:xfrm>
          <a:prstGeom prst="rect">
            <a:avLst/>
          </a:prstGeom>
          <a:solidFill>
            <a:srgbClr val="F4F6F9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0" y="178308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2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Suivi &amp; reliquats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2697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réalisé tracé par formation → reliquats = notifié − réalisé → défense de l'enveloppe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 de vie des affectations 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9CA3A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14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attente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40280" y="411480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2240280" y="4114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Urgent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931920" y="411480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3931920" y="4114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cours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23560" y="411480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5623560" y="4114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0" y="411480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4114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Annulé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: communes/spécifiques × internes/externes — Historique individuel traçable — Non-ATE ne refait pas un module déjà validé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3716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Moteur de Conformité ATE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2377440" cy="1188720"/>
          </a:xfrm>
          <a:prstGeom prst="rect">
            <a:avLst/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143000"/>
            <a:ext cx="73152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15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modules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 de validité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2477" y="1051560"/>
            <a:ext cx="2336166" cy="1188720"/>
          </a:xfrm>
          <a:prstGeom prst="rect">
            <a:avLst/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3190" y="1094486"/>
            <a:ext cx="1079500" cy="42341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115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Expire &lt; 6 mois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 module expire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≤ 180 jours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377440" cy="1188720"/>
          </a:xfrm>
          <a:prstGeom prst="rect">
            <a:avLst/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1143000"/>
            <a:ext cx="731520" cy="3200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115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Expiré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 module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validité rompue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8036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62356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48640" y="2468880"/>
            <a:ext cx="4572000" cy="2286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560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Exemple : Agent Mansouri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292608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SAT : validé 2023-06-15 → expire 2026-06-15 → </a:t>
            </a: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28j → ORANGE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 : validé 2024-01-10 → expire 2027-01-10 → </a:t>
            </a: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589j → VERT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Statut global = </a:t>
            </a: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(module le plus critique)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Bornes testées : +365→Vert, +180→Orange, 0→Orange, -1→Rouge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2468880"/>
            <a:ext cx="3291840" cy="228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394960" y="246888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[Matrice de Conformité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E.1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agents × 25 modules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couleur en temps réel]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3716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Fonctionnalités Clés — Importation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Importation Excel &amp; Mapping Dynamique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4572000" cy="2560320"/>
          </a:xfrm>
          <a:prstGeom prst="rect">
            <a:avLst/>
          </a:prstGeom>
          <a:solidFill>
            <a:srgbClr val="F4F6F9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[Capture — Interface de mappage dynamique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3.2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Excel ↔ Champs système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aperçu des données à droite]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1371600"/>
            <a:ext cx="256032" cy="2560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1371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0" y="1371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 mappage colonnes ↔ champs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1874520"/>
            <a:ext cx="256032" cy="2560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le fichier .xlsx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2377440"/>
            <a:ext cx="256032" cy="2560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52160" y="2377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format ligne par ligne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2880360"/>
            <a:ext cx="256032" cy="25603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52160" y="2880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: mise à jour si existant, création sinon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3383280"/>
            <a:ext cx="256032" cy="2560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: X créés, Y mis à jour, Z erreurs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à : Personnel, Plan de formation, Formateurs, Programmes récurrents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3716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Aperçu des Interfaces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51760" cy="1417320"/>
          </a:xfrm>
          <a:prstGeom prst="rect">
            <a:avLst/>
          </a:prstGeom>
          <a:solidFill>
            <a:srgbClr val="F4F6F9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[Figure F.1]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+ vue d'ensemble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1005840"/>
            <a:ext cx="2651760" cy="1417320"/>
          </a:xfrm>
          <a:prstGeom prst="rect">
            <a:avLst/>
          </a:prstGeom>
          <a:solidFill>
            <a:srgbClr val="F4F6F9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337560" y="100584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[Figure F.2]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2423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26334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Enveloppes par formation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651760" cy="1417320"/>
          </a:xfrm>
          <a:prstGeom prst="rect">
            <a:avLst/>
          </a:prstGeom>
          <a:solidFill>
            <a:srgbClr val="F4F6F9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217920" y="100584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[Figure F.4]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423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Personnel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26334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complet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51760" cy="1417320"/>
          </a:xfrm>
          <a:prstGeom prst="rect">
            <a:avLst/>
          </a:prstGeom>
          <a:solidFill>
            <a:srgbClr val="F4F6F9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57200" y="292608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[Figure F.5]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Réalisation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55371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Notifié vs réalisé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2926080"/>
            <a:ext cx="2651760" cy="1417320"/>
          </a:xfrm>
          <a:prstGeom prst="rect">
            <a:avLst/>
          </a:prstGeom>
          <a:solidFill>
            <a:srgbClr val="F4F6F9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3337560" y="292608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[Figure E.1]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4343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Matrice 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455371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modules × agents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2926080"/>
            <a:ext cx="2651760" cy="1417320"/>
          </a:xfrm>
          <a:prstGeom prst="rect">
            <a:avLst/>
          </a:prstGeom>
          <a:solidFill>
            <a:srgbClr val="F4F6F9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217920" y="292608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[Figure F.10]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4343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SD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455371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par dept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 démonstration live suivra cette présentation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3716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Tests &amp; Validation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36/36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passés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960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4.07s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5176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total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960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de test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960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85800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965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Couverture par domaine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377440"/>
            <a:ext cx="3931920" cy="3200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Domaine ATE &amp; Récurrent</a:t>
            </a:r>
            <a:endParaRPr lang="en-US" sz="1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88920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14400" y="2788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récurrents (3)</a:t>
            </a:r>
            <a:endParaRPr lang="en-US" sz="10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81528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14400" y="3081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formateurs (3)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74136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4400" y="33741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session (3)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66744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4400" y="3666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progression (3)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59352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4400" y="3959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Jalonnement ATE (3)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51960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4400" y="4251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Bornes couleur ATE (7)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754880" y="2377440"/>
            <a:ext cx="3931920" cy="3200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0" name="Text 22"/>
          <p:cNvSpPr/>
          <p:nvPr/>
        </p:nvSpPr>
        <p:spPr>
          <a:xfrm>
            <a:off x="493776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Domaine Ponctuel &amp; Général</a:t>
            </a:r>
            <a:endParaRPr lang="en-US" sz="11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88920"/>
            <a:ext cx="182880" cy="1828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120640" y="2788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CRUD (4)</a:t>
            </a:r>
            <a:endParaRPr lang="en-US" sz="10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081528"/>
            <a:ext cx="182880" cy="1828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120640" y="3081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d'affectation (3)</a:t>
            </a:r>
            <a:endParaRPr lang="en-US" sz="10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374136"/>
            <a:ext cx="182880" cy="18288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120640" y="33741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formations (3)</a:t>
            </a:r>
            <a:endParaRPr lang="en-US" sz="10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666744"/>
            <a:ext cx="182880" cy="18288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120640" y="3666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JSON backup (4)</a:t>
            </a:r>
            <a:endParaRPr lang="en-US" sz="1000" dirty="0"/>
          </a:p>
        </p:txBody>
      </p:sp>
      <p:sp>
        <p:nvSpPr>
          <p:cNvPr id="39" name="Text 27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règle métier du chapitre 1 a un test automatisé correspondant · SQLite in-memory · Isolation totale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Perspectives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Résultats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automatisé 25 modules ATE par agent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formation ponctuel avec arbitrage budget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3172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 : notifié vs réalisé, reliquats traçables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0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680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hybride Desktop/Web opérationnelle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4680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6868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36/36 tests — système prêt à la livraison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475488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Perspectives</a:t>
            </a:r>
            <a:endParaRPr lang="en-US" sz="16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508760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07492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au SI global d'Air Algérie</a:t>
            </a:r>
            <a:endParaRPr lang="en-US" sz="11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920240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7492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d'auto-consultation pour les agents</a:t>
            </a:r>
            <a:endParaRPr lang="en-US" sz="11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331720"/>
            <a:ext cx="201168" cy="20116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07492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proactives par email</a:t>
            </a:r>
            <a:endParaRPr lang="en-US" sz="11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743200"/>
            <a:ext cx="201168" cy="20116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074920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multi-sites au-delà de la DOA</a:t>
            </a:r>
            <a:endParaRPr lang="en-US" sz="1100" dirty="0"/>
          </a:p>
        </p:txBody>
      </p:sp>
      <p:sp>
        <p:nvSpPr>
          <p:cNvPr id="24" name="Text 13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 pour votre attention</a:t>
            </a:r>
            <a:endParaRPr lang="en-US" sz="2200" dirty="0"/>
          </a:p>
        </p:txBody>
      </p:sp>
      <p:sp>
        <p:nvSpPr>
          <p:cNvPr id="25" name="Text 14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 prêts pour vos questions.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1367</Words>
  <Application>Microsoft Office PowerPoint</Application>
  <PresentationFormat>Affichage à l'écran (16:9)</PresentationFormat>
  <Paragraphs>325</Paragraphs>
  <Slides>17</Slides>
  <Notes>17</Notes>
  <HiddenSlides>0</HiddenSlides>
  <MMClips>1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Hify — Gestion des Formations et Qualifications ATE</dc:title>
  <dc:subject>PptxGenJS Presentation</dc:subject>
  <dc:creator>Equipe Hify</dc:creator>
  <cp:lastModifiedBy>LENOVO IP330</cp:lastModifiedBy>
  <cp:revision>19</cp:revision>
  <dcterms:created xsi:type="dcterms:W3CDTF">2026-05-19T11:24:22Z</dcterms:created>
  <dcterms:modified xsi:type="dcterms:W3CDTF">2026-05-20T17:58:01Z</dcterms:modified>
</cp:coreProperties>
</file>